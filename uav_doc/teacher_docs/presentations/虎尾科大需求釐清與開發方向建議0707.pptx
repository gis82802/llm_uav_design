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75" r:id="rId2"/>
    <p:sldId id="263" r:id="rId3"/>
    <p:sldId id="264" r:id="rId4"/>
    <p:sldId id="266" r:id="rId5"/>
    <p:sldId id="267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9" autoAdjust="0"/>
    <p:restoredTop sz="93430" autoAdjust="0"/>
  </p:normalViewPr>
  <p:slideViewPr>
    <p:cSldViewPr snapToGrid="0">
      <p:cViewPr varScale="1">
        <p:scale>
          <a:sx n="118" d="100"/>
          <a:sy n="118" d="100"/>
        </p:scale>
        <p:origin x="11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1C3BDF-6D8C-42CB-A9CB-D028C9F75BB5}" type="datetimeFigureOut">
              <a:rPr lang="zh-TW" altLang="en-US" smtClean="0"/>
              <a:t>2025/7/7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174DA8-EB68-472A-A173-D2EDE53F1B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1244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eaLnBrk="1" fontAlgn="t" latinLnBrk="0" hangingPunct="1"/>
            <a:r>
              <a:rPr lang="zh-TW" altLang="zh-TW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流程階段</a:t>
            </a:r>
            <a:endParaRPr lang="zh-TW" altLang="zh-TW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zh-TW" altLang="zh-TW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系統處理內容</a:t>
            </a:r>
            <a:endParaRPr lang="zh-TW" altLang="zh-TW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zh-TW" altLang="zh-TW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是否需人工介入</a:t>
            </a:r>
            <a:endParaRPr lang="zh-TW" altLang="zh-TW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altLang="zh-TW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zh-TW" altLang="zh-TW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任務需求輸入</a:t>
            </a:r>
            <a:endParaRPr lang="zh-TW" altLang="zh-TW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zh-TW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輸入任務需求條件、預算、目標</a:t>
            </a:r>
          </a:p>
          <a:p>
            <a:pPr rtl="0" eaLnBrk="1" fontAlgn="t" latinLnBrk="0" hangingPunct="1"/>
            <a:r>
              <a:rPr lang="zh-TW" altLang="zh-TW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需工程師指定並輸入</a:t>
            </a:r>
            <a:endParaRPr lang="zh-TW" altLang="zh-TW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altLang="zh-TW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zh-TW" altLang="zh-TW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任務解析與流程拆解</a:t>
            </a:r>
            <a:endParaRPr lang="zh-TW" altLang="zh-TW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zh-TW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自動產出設計階段流程圖</a:t>
            </a:r>
          </a:p>
          <a:p>
            <a:pPr rtl="0" eaLnBrk="1" fontAlgn="t" latinLnBrk="0" hangingPunct="1"/>
            <a:r>
              <a:rPr lang="zh-TW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自動完成（</a:t>
            </a:r>
            <a:r>
              <a:rPr lang="en-US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</a:t>
            </a:r>
            <a:r>
              <a:rPr lang="zh-TW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轉換 </a:t>
            </a:r>
            <a:r>
              <a:rPr lang="en-US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 </a:t>
            </a:r>
            <a:r>
              <a:rPr lang="zh-TW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工作流規劃）</a:t>
            </a:r>
          </a:p>
          <a:p>
            <a:pPr rtl="0" eaLnBrk="1" fontAlgn="t" latinLnBrk="0" hangingPunct="1"/>
            <a:r>
              <a:rPr lang="en-US" altLang="zh-TW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zh-TW" altLang="zh-TW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設計元件推薦</a:t>
            </a:r>
            <a:endParaRPr lang="zh-TW" altLang="zh-TW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zh-TW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根據過去經驗庫自動推薦馬達、電池、感測器等模組</a:t>
            </a:r>
          </a:p>
          <a:p>
            <a:pPr rtl="0" eaLnBrk="1" fontAlgn="t" latinLnBrk="0" hangingPunct="1"/>
            <a:r>
              <a:rPr lang="zh-TW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自動完成（</a:t>
            </a:r>
            <a:r>
              <a:rPr lang="en-US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RAG + </a:t>
            </a:r>
            <a:r>
              <a:rPr lang="zh-TW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知識圖譜）</a:t>
            </a:r>
          </a:p>
          <a:p>
            <a:pPr rtl="0" eaLnBrk="1" fontAlgn="t" latinLnBrk="0" hangingPunct="1"/>
            <a:r>
              <a:rPr lang="en-US" altLang="zh-TW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</a:t>
            </a:r>
            <a:r>
              <a:rPr lang="zh-TW" altLang="zh-TW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替代方案比較與選擇</a:t>
            </a:r>
            <a:endParaRPr lang="zh-TW" altLang="zh-TW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zh-TW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展示功耗、價格、效能等比較</a:t>
            </a:r>
          </a:p>
          <a:p>
            <a:pPr rtl="0" eaLnBrk="1" fontAlgn="t" latinLnBrk="0" hangingPunct="1"/>
            <a:r>
              <a:rPr lang="zh-TW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TW" altLang="zh-TW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需工程師決策選擇或指定條件</a:t>
            </a:r>
            <a:endParaRPr lang="zh-TW" altLang="zh-TW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altLang="zh-TW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</a:t>
            </a:r>
            <a:r>
              <a:rPr lang="zh-TW" altLang="zh-TW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模擬排程與執行</a:t>
            </a:r>
            <a:endParaRPr lang="zh-TW" altLang="zh-TW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zh-TW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自動呼叫 </a:t>
            </a:r>
            <a:r>
              <a:rPr lang="en-US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CFD / </a:t>
            </a:r>
            <a:r>
              <a:rPr lang="zh-TW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結構模擬 </a:t>
            </a:r>
            <a:r>
              <a:rPr lang="en-US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</a:t>
            </a:r>
            <a:r>
              <a:rPr lang="zh-TW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路徑規劃等軟體</a:t>
            </a:r>
          </a:p>
          <a:p>
            <a:pPr rtl="0" eaLnBrk="1" fontAlgn="t" latinLnBrk="0" hangingPunct="1"/>
            <a:r>
              <a:rPr lang="zh-TW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自動完成（呼叫 </a:t>
            </a:r>
            <a:r>
              <a:rPr lang="en-US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 / Job Scheduler）</a:t>
            </a:r>
            <a:endParaRPr lang="zh-TW" altLang="zh-TW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altLang="zh-TW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 </a:t>
            </a:r>
            <a:r>
              <a:rPr lang="zh-TW" altLang="zh-TW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模擬結果初步分析</a:t>
            </a:r>
            <a:endParaRPr lang="zh-TW" altLang="zh-TW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zh-TW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將結果摘要寫入報告，並給出優化建議</a:t>
            </a:r>
          </a:p>
          <a:p>
            <a:pPr rtl="0" eaLnBrk="1" fontAlgn="t" latinLnBrk="0" hangingPunct="1"/>
            <a:r>
              <a:rPr lang="zh-TW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自動完成（</a:t>
            </a:r>
            <a:r>
              <a:rPr lang="en-US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</a:t>
            </a:r>
            <a:r>
              <a:rPr lang="zh-TW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報告摘要 </a:t>
            </a:r>
            <a:r>
              <a:rPr lang="en-US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 </a:t>
            </a:r>
            <a:r>
              <a:rPr lang="zh-TW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模擬輸出解析）</a:t>
            </a:r>
          </a:p>
          <a:p>
            <a:pPr rtl="0" eaLnBrk="1" fontAlgn="t" latinLnBrk="0" hangingPunct="1"/>
            <a:r>
              <a:rPr lang="en-US" altLang="zh-TW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7. </a:t>
            </a:r>
            <a:r>
              <a:rPr lang="zh-TW" altLang="zh-TW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設計整合與效能預測</a:t>
            </a:r>
            <a:endParaRPr lang="zh-TW" altLang="zh-TW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zh-TW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整合各模組結果、預測航時、成本等</a:t>
            </a:r>
          </a:p>
          <a:p>
            <a:pPr rtl="0" eaLnBrk="1" fontAlgn="t" latinLnBrk="0" hangingPunct="1"/>
            <a:r>
              <a:rPr lang="zh-TW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自動完成（多模組資料整併）</a:t>
            </a:r>
          </a:p>
          <a:p>
            <a:pPr rtl="0" eaLnBrk="1" fontAlgn="t" latinLnBrk="0" hangingPunct="1"/>
            <a:r>
              <a:rPr lang="en-US" altLang="zh-TW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8. </a:t>
            </a:r>
            <a:r>
              <a:rPr lang="zh-TW" altLang="zh-TW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風險與限制提示</a:t>
            </a:r>
            <a:endParaRPr lang="zh-TW" altLang="zh-TW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zh-TW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提示潛在設計風險與工程瓶頸</a:t>
            </a:r>
          </a:p>
          <a:p>
            <a:pPr rtl="0" eaLnBrk="1" fontAlgn="t" latinLnBrk="0" hangingPunct="1"/>
            <a:r>
              <a:rPr lang="zh-TW" altLang="zh-TW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需工程師審閱與確認是否修正</a:t>
            </a:r>
            <a:endParaRPr lang="zh-TW" altLang="zh-TW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altLang="zh-TW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9. </a:t>
            </a:r>
            <a:r>
              <a:rPr lang="zh-TW" altLang="zh-TW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設計草案輸出</a:t>
            </a:r>
            <a:endParaRPr lang="zh-TW" altLang="zh-TW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zh-TW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產出</a:t>
            </a:r>
            <a:r>
              <a:rPr lang="en-US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PDF</a:t>
            </a:r>
            <a:r>
              <a:rPr lang="zh-TW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報告、</a:t>
            </a:r>
            <a:r>
              <a:rPr lang="en-US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CAD</a:t>
            </a:r>
            <a:r>
              <a:rPr lang="zh-TW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檔、</a:t>
            </a:r>
            <a:r>
              <a:rPr lang="en-US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BOM</a:t>
            </a:r>
            <a:r>
              <a:rPr lang="zh-TW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表、模擬圖</a:t>
            </a:r>
          </a:p>
          <a:p>
            <a:pPr rtl="0" eaLnBrk="1" fontAlgn="t" latinLnBrk="0" hangingPunct="1"/>
            <a:r>
              <a:rPr lang="zh-TW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自動完成（整批生成）</a:t>
            </a:r>
          </a:p>
          <a:p>
            <a:pPr rtl="0" eaLnBrk="1" fontAlgn="t" latinLnBrk="0" hangingPunct="1"/>
            <a:r>
              <a:rPr lang="en-US" altLang="zh-TW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10. </a:t>
            </a:r>
            <a:r>
              <a:rPr lang="zh-TW" altLang="zh-TW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工程師最終審查與修改</a:t>
            </a:r>
            <a:endParaRPr lang="zh-TW" altLang="zh-TW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zh-TW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資深工程師調整、重試某些模擬、加入註解</a:t>
            </a:r>
          </a:p>
          <a:p>
            <a:pPr rtl="0" eaLnBrk="1" fontAlgn="t" latinLnBrk="0" hangingPunct="1"/>
            <a:r>
              <a:rPr lang="zh-TW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TW" altLang="zh-TW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需工程師人工審閱與優化</a:t>
            </a:r>
            <a:endParaRPr lang="zh-TW" altLang="zh-TW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altLang="zh-TW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11. </a:t>
            </a:r>
            <a:r>
              <a:rPr lang="zh-TW" altLang="zh-TW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專案收尾與報告導出</a:t>
            </a:r>
            <a:endParaRPr lang="zh-TW" altLang="zh-TW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zh-TW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系統自動歸檔報告、版本紀錄、原始設計決策路徑</a:t>
            </a:r>
          </a:p>
          <a:p>
            <a:pPr rtl="0" eaLnBrk="1" fontAlgn="t" latinLnBrk="0" hangingPunct="1"/>
            <a:r>
              <a:rPr lang="zh-TW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自動完成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74DA8-EB68-472A-A173-D2EDE53F1BB5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21985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74DA8-EB68-472A-A173-D2EDE53F1BB5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54691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="1" dirty="0"/>
              <a:t>battery:</a:t>
            </a:r>
          </a:p>
          <a:p>
            <a:r>
              <a:rPr lang="en-US" altLang="zh-TW" b="1" dirty="0"/>
              <a:t>  </a:t>
            </a:r>
            <a:r>
              <a:rPr lang="en-US" altLang="zh-TW" b="1" dirty="0" err="1"/>
              <a:t>cell_count</a:t>
            </a:r>
            <a:r>
              <a:rPr lang="en-US" altLang="zh-TW" b="1" dirty="0"/>
              <a:t>: 4                    # </a:t>
            </a:r>
            <a:r>
              <a:rPr lang="zh-TW" altLang="en-US" b="1" dirty="0"/>
              <a:t>使用 </a:t>
            </a:r>
            <a:r>
              <a:rPr lang="en-US" altLang="zh-TW" b="1" dirty="0"/>
              <a:t>4S </a:t>
            </a:r>
            <a:r>
              <a:rPr lang="zh-TW" altLang="en-US" b="1" dirty="0"/>
              <a:t>鋰電池組</a:t>
            </a:r>
          </a:p>
          <a:p>
            <a:r>
              <a:rPr lang="zh-TW" altLang="en-US" b="1" dirty="0"/>
              <a:t>  </a:t>
            </a:r>
            <a:r>
              <a:rPr lang="en-US" altLang="zh-TW" b="1" dirty="0" err="1"/>
              <a:t>capacity_mAh</a:t>
            </a:r>
            <a:r>
              <a:rPr lang="en-US" altLang="zh-TW" b="1" dirty="0"/>
              <a:t>: 5200              # </a:t>
            </a:r>
            <a:r>
              <a:rPr lang="zh-TW" altLang="en-US" b="1" dirty="0"/>
              <a:t>電池容量為 </a:t>
            </a:r>
            <a:r>
              <a:rPr lang="en-US" altLang="zh-TW" b="1" dirty="0"/>
              <a:t>5200mAh</a:t>
            </a:r>
            <a:r>
              <a:rPr lang="zh-TW" altLang="en-US" b="1" dirty="0"/>
              <a:t>，預期提供 </a:t>
            </a:r>
            <a:r>
              <a:rPr lang="en-US" altLang="zh-TW" b="1" dirty="0"/>
              <a:t>45~50 </a:t>
            </a:r>
            <a:r>
              <a:rPr lang="zh-TW" altLang="en-US" b="1" dirty="0"/>
              <a:t>分鐘續航</a:t>
            </a:r>
          </a:p>
          <a:p>
            <a:endParaRPr lang="zh-TW" altLang="en-US" b="1" dirty="0"/>
          </a:p>
          <a:p>
            <a:r>
              <a:rPr lang="en-US" altLang="zh-TW" b="1" dirty="0"/>
              <a:t>camera:</a:t>
            </a:r>
          </a:p>
          <a:p>
            <a:r>
              <a:rPr lang="en-US" altLang="zh-TW" b="1" dirty="0"/>
              <a:t>  fps: 60                         # </a:t>
            </a:r>
            <a:r>
              <a:rPr lang="zh-TW" altLang="en-US" b="1" dirty="0"/>
              <a:t>紅外模組設定為每秒 </a:t>
            </a:r>
            <a:r>
              <a:rPr lang="en-US" altLang="zh-TW" b="1" dirty="0"/>
              <a:t>60 </a:t>
            </a:r>
            <a:r>
              <a:rPr lang="zh-TW" altLang="en-US" b="1" dirty="0"/>
              <a:t>張影像，保留完整夜間辨識畫面</a:t>
            </a:r>
          </a:p>
          <a:p>
            <a:r>
              <a:rPr lang="zh-TW" altLang="en-US" b="1" dirty="0"/>
              <a:t>  </a:t>
            </a:r>
            <a:r>
              <a:rPr lang="en-US" altLang="zh-TW" b="1" dirty="0" err="1"/>
              <a:t>weight_g</a:t>
            </a:r>
            <a:r>
              <a:rPr lang="en-US" altLang="zh-TW" b="1" dirty="0"/>
              <a:t>: 180                   # </a:t>
            </a:r>
            <a:r>
              <a:rPr lang="zh-TW" altLang="en-US" b="1" dirty="0"/>
              <a:t>選用高階感測模組，重量較重</a:t>
            </a:r>
          </a:p>
          <a:p>
            <a:endParaRPr lang="zh-TW" altLang="en-US" b="1" dirty="0"/>
          </a:p>
          <a:p>
            <a:r>
              <a:rPr lang="en-US" altLang="zh-TW" b="1" dirty="0"/>
              <a:t>structure:</a:t>
            </a:r>
          </a:p>
          <a:p>
            <a:r>
              <a:rPr lang="en-US" altLang="zh-TW" b="1" dirty="0"/>
              <a:t>  </a:t>
            </a:r>
            <a:r>
              <a:rPr lang="en-US" altLang="zh-TW" b="1" dirty="0" err="1"/>
              <a:t>mount_position</a:t>
            </a:r>
            <a:r>
              <a:rPr lang="en-US" altLang="zh-TW" b="1" dirty="0"/>
              <a:t>: </a:t>
            </a:r>
            <a:r>
              <a:rPr lang="en-US" altLang="zh-TW" b="1" dirty="0" err="1"/>
              <a:t>rear_default</a:t>
            </a:r>
            <a:r>
              <a:rPr lang="en-US" altLang="zh-TW" b="1" dirty="0"/>
              <a:t>    # </a:t>
            </a:r>
            <a:r>
              <a:rPr lang="zh-TW" altLang="en-US" b="1" dirty="0"/>
              <a:t>初始配置將感測模組掛於機體後段（尾部）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74DA8-EB68-472A-A173-D2EDE53F1BB5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67197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1" dirty="0"/>
              <a:t>✅ </a:t>
            </a:r>
            <a:r>
              <a:rPr lang="en-US" altLang="zh-TW" b="1" dirty="0"/>
              <a:t>Step 5</a:t>
            </a:r>
            <a:r>
              <a:rPr lang="zh-TW" altLang="en-US" b="1" dirty="0"/>
              <a:t>｜整合輸出與成果報告（符合交付格式）</a:t>
            </a:r>
          </a:p>
          <a:p>
            <a:r>
              <a:rPr lang="zh-TW" altLang="en-US" dirty="0"/>
              <a:t>模擬與協作流程完成後，系統將產出具實務交付水準的報告與技術資料包，雖為原型，仍比照實際產線規格設計：</a:t>
            </a:r>
          </a:p>
          <a:p>
            <a:r>
              <a:rPr lang="zh-TW" altLang="en-US" b="1" dirty="0"/>
              <a:t>🧾 一、成果報告（</a:t>
            </a:r>
            <a:r>
              <a:rPr lang="en-US" altLang="zh-TW" b="1" dirty="0"/>
              <a:t>PDF </a:t>
            </a:r>
            <a:r>
              <a:rPr lang="zh-TW" altLang="en-US" b="1" dirty="0"/>
              <a:t>格式）</a:t>
            </a:r>
          </a:p>
          <a:p>
            <a:r>
              <a:rPr lang="zh-TW" altLang="en-US" dirty="0"/>
              <a:t>內容包含：</a:t>
            </a:r>
          </a:p>
          <a:p>
            <a:r>
              <a:rPr lang="zh-TW" altLang="en-US" b="1" dirty="0"/>
              <a:t>任務摘要與設計目標</a:t>
            </a:r>
            <a:endParaRPr lang="zh-TW" altLang="en-US" dirty="0"/>
          </a:p>
          <a:p>
            <a:r>
              <a:rPr lang="zh-TW" altLang="en-US" b="1" dirty="0"/>
              <a:t>模組配置與修改歷程</a:t>
            </a:r>
            <a:endParaRPr lang="zh-TW" altLang="en-US" dirty="0"/>
          </a:p>
          <a:p>
            <a:r>
              <a:rPr lang="zh-TW" altLang="en-US" b="1" dirty="0"/>
              <a:t>模擬結果紀錄（含每輪參數與摘要）</a:t>
            </a:r>
            <a:endParaRPr lang="zh-TW" altLang="en-US" dirty="0"/>
          </a:p>
          <a:p>
            <a:r>
              <a:rPr lang="zh-TW" altLang="en-US" b="1" dirty="0"/>
              <a:t>跨模組協作與分工建議紀錄</a:t>
            </a:r>
            <a:endParaRPr lang="zh-TW" altLang="en-US" dirty="0"/>
          </a:p>
          <a:p>
            <a:r>
              <a:rPr lang="zh-TW" altLang="en-US" b="1" dirty="0"/>
              <a:t>設計修正與最終參數統整</a:t>
            </a:r>
            <a:endParaRPr lang="zh-TW" altLang="en-US" dirty="0"/>
          </a:p>
          <a:p>
            <a:r>
              <a:rPr lang="zh-TW" altLang="en-US" dirty="0"/>
              <a:t>📌 </a:t>
            </a:r>
            <a:r>
              <a:rPr lang="zh-TW" altLang="en-US" b="1" dirty="0"/>
              <a:t>知識引用說明</a:t>
            </a:r>
            <a:r>
              <a:rPr lang="zh-TW" altLang="en-US" dirty="0"/>
              <a:t>：凡來自知識庫查詢的建議，皆標註出處與資料版本（如：</a:t>
            </a:r>
            <a:r>
              <a:rPr lang="en-US" altLang="zh-TW" dirty="0"/>
              <a:t>TAIDE_KB_Module_IR_2023.12</a:t>
            </a:r>
            <a:r>
              <a:rPr lang="zh-TW" altLang="en-US" dirty="0"/>
              <a:t>）</a:t>
            </a:r>
          </a:p>
          <a:p>
            <a:r>
              <a:rPr lang="zh-TW" altLang="en-US" b="1" dirty="0"/>
              <a:t>📄 二、技術資料包</a:t>
            </a:r>
          </a:p>
          <a:p>
            <a:r>
              <a:rPr lang="zh-TW" altLang="en-US" b="1" dirty="0"/>
              <a:t>元件清單（</a:t>
            </a:r>
            <a:r>
              <a:rPr lang="en-US" altLang="zh-TW" b="1" dirty="0"/>
              <a:t>BOM</a:t>
            </a:r>
            <a:r>
              <a:rPr lang="zh-TW" altLang="en-US" b="1" dirty="0"/>
              <a:t>）與建議替代方案</a:t>
            </a:r>
            <a:endParaRPr lang="zh-TW" altLang="en-US" dirty="0"/>
          </a:p>
          <a:p>
            <a:r>
              <a:rPr lang="zh-TW" altLang="en-US" b="1" dirty="0"/>
              <a:t>設計構型草圖（</a:t>
            </a:r>
            <a:r>
              <a:rPr lang="en-US" altLang="zh-TW" b="1" dirty="0"/>
              <a:t>CAD</a:t>
            </a:r>
            <a:r>
              <a:rPr lang="zh-TW" altLang="en-US" b="1" dirty="0"/>
              <a:t>格式）</a:t>
            </a:r>
            <a:endParaRPr lang="zh-TW" altLang="en-US" dirty="0"/>
          </a:p>
          <a:p>
            <a:r>
              <a:rPr lang="zh-TW" altLang="en-US" b="1" dirty="0"/>
              <a:t>模擬輸出圖與參數表</a:t>
            </a:r>
            <a:endParaRPr lang="zh-TW" altLang="en-US" dirty="0"/>
          </a:p>
          <a:p>
            <a:r>
              <a:rPr lang="zh-TW" altLang="en-US" b="1" dirty="0"/>
              <a:t>參數設定檔（</a:t>
            </a:r>
            <a:r>
              <a:rPr lang="en-US" altLang="zh-TW" b="1" dirty="0"/>
              <a:t>YAML/JSON</a:t>
            </a:r>
            <a:r>
              <a:rPr lang="zh-TW" altLang="en-US" b="1" dirty="0"/>
              <a:t>，含註解，首輪與修正版）</a:t>
            </a:r>
            <a:endParaRPr lang="zh-TW" altLang="en-US" dirty="0"/>
          </a:p>
          <a:p>
            <a:r>
              <a:rPr lang="zh-TW" altLang="en-US" b="1" dirty="0"/>
              <a:t>🔁 三、決策與版本紀錄</a:t>
            </a:r>
          </a:p>
          <a:p>
            <a:r>
              <a:rPr lang="zh-TW" altLang="en-US" dirty="0"/>
              <a:t>每次模擬與設計調整皆對應一組 </a:t>
            </a:r>
            <a:r>
              <a:rPr lang="en-US" altLang="zh-TW" dirty="0"/>
              <a:t>ID</a:t>
            </a:r>
            <a:r>
              <a:rPr lang="zh-TW" altLang="en-US" dirty="0"/>
              <a:t>，記錄推論依據與回覆來源，形成完整設計追溯鏈（</a:t>
            </a:r>
            <a:r>
              <a:rPr lang="en-US" altLang="zh-TW" dirty="0"/>
              <a:t>Traceability</a:t>
            </a:r>
            <a:r>
              <a:rPr lang="zh-TW" altLang="en-US" dirty="0"/>
              <a:t>）。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74DA8-EB68-472A-A173-D2EDE53F1BB5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4815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D336B-8312-4414-B25D-03466C771918}" type="datetimeFigureOut">
              <a:rPr lang="zh-TW" altLang="en-US" smtClean="0"/>
              <a:t>2025/7/7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4D62-DF08-491E-967A-D27F3A3254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7291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D336B-8312-4414-B25D-03466C771918}" type="datetimeFigureOut">
              <a:rPr lang="zh-TW" altLang="en-US" smtClean="0"/>
              <a:t>2025/7/7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4D62-DF08-491E-967A-D27F3A3254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4654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D336B-8312-4414-B25D-03466C771918}" type="datetimeFigureOut">
              <a:rPr lang="zh-TW" altLang="en-US" smtClean="0"/>
              <a:t>2025/7/7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4D62-DF08-491E-967A-D27F3A3254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8418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D336B-8312-4414-B25D-03466C771918}" type="datetimeFigureOut">
              <a:rPr lang="zh-TW" altLang="en-US" smtClean="0"/>
              <a:t>2025/7/7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4D62-DF08-491E-967A-D27F3A3254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0955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D336B-8312-4414-B25D-03466C771918}" type="datetimeFigureOut">
              <a:rPr lang="zh-TW" altLang="en-US" smtClean="0"/>
              <a:t>2025/7/7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4D62-DF08-491E-967A-D27F3A3254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5803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D336B-8312-4414-B25D-03466C771918}" type="datetimeFigureOut">
              <a:rPr lang="zh-TW" altLang="en-US" smtClean="0"/>
              <a:t>2025/7/7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4D62-DF08-491E-967A-D27F3A3254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0769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D336B-8312-4414-B25D-03466C771918}" type="datetimeFigureOut">
              <a:rPr lang="zh-TW" altLang="en-US" smtClean="0"/>
              <a:t>2025/7/7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4D62-DF08-491E-967A-D27F3A3254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716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D336B-8312-4414-B25D-03466C771918}" type="datetimeFigureOut">
              <a:rPr lang="zh-TW" altLang="en-US" smtClean="0"/>
              <a:t>2025/7/7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4D62-DF08-491E-967A-D27F3A3254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5336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D336B-8312-4414-B25D-03466C771918}" type="datetimeFigureOut">
              <a:rPr lang="zh-TW" altLang="en-US" smtClean="0"/>
              <a:t>2025/7/7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4D62-DF08-491E-967A-D27F3A3254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4618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D336B-8312-4414-B25D-03466C771918}" type="datetimeFigureOut">
              <a:rPr lang="zh-TW" altLang="en-US" smtClean="0"/>
              <a:t>2025/7/7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4D62-DF08-491E-967A-D27F3A3254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9280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D336B-8312-4414-B25D-03466C771918}" type="datetimeFigureOut">
              <a:rPr lang="zh-TW" altLang="en-US" smtClean="0"/>
              <a:t>2025/7/7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4D62-DF08-491E-967A-D27F3A3254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0140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2D336B-8312-4414-B25D-03466C771918}" type="datetimeFigureOut">
              <a:rPr lang="zh-TW" altLang="en-US" smtClean="0"/>
              <a:t>2025/7/7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A84D62-DF08-491E-967A-D27F3A3254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9053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4987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sz="4800" b="1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0703</a:t>
            </a:r>
            <a:r>
              <a:rPr lang="zh-TW" altLang="en-US" sz="4800" b="1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線</a:t>
            </a:r>
            <a:r>
              <a:rPr lang="zh-TW" altLang="en-US" sz="4800" b="1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上討論會後</a:t>
            </a:r>
            <a:r>
              <a:rPr lang="zh-TW" altLang="en-US" sz="4800" b="1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提供老師參考</a:t>
            </a:r>
            <a:endParaRPr lang="zh-TW" altLang="en-US" sz="4800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133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3748C-BAB6-86DA-2FCA-A1B6B157C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字方塊 20">
            <a:extLst>
              <a:ext uri="{FF2B5EF4-FFF2-40B4-BE49-F238E27FC236}">
                <a16:creationId xmlns:a16="http://schemas.microsoft.com/office/drawing/2014/main" id="{61B10865-588B-CE71-2CA5-54D8D7868C00}"/>
              </a:ext>
            </a:extLst>
          </p:cNvPr>
          <p:cNvSpPr txBox="1"/>
          <p:nvPr/>
        </p:nvSpPr>
        <p:spPr>
          <a:xfrm>
            <a:off x="244822" y="612281"/>
            <a:ext cx="311816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建議操作流程</a:t>
            </a:r>
            <a:r>
              <a:rPr lang="en-US" altLang="zh-TW" sz="28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(OV)</a:t>
            </a:r>
          </a:p>
          <a:p>
            <a:r>
              <a:rPr lang="en-US" altLang="zh-TW" sz="28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28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第一年</a:t>
            </a:r>
            <a:r>
              <a:rPr lang="en-US" altLang="zh-TW" sz="28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en-US" sz="2800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67D89848-563D-80D7-1AD3-A60BF2B49A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6658827"/>
              </p:ext>
            </p:extLst>
          </p:nvPr>
        </p:nvGraphicFramePr>
        <p:xfrm>
          <a:off x="436228" y="1872546"/>
          <a:ext cx="11534862" cy="4422816"/>
        </p:xfrm>
        <a:graphic>
          <a:graphicData uri="http://schemas.openxmlformats.org/drawingml/2006/table">
            <a:tbl>
              <a:tblPr/>
              <a:tblGrid>
                <a:gridCol w="2218072">
                  <a:extLst>
                    <a:ext uri="{9D8B030D-6E8A-4147-A177-3AD203B41FA5}">
                      <a16:colId xmlns:a16="http://schemas.microsoft.com/office/drawing/2014/main" val="3438445085"/>
                    </a:ext>
                  </a:extLst>
                </a:gridCol>
                <a:gridCol w="4559300">
                  <a:extLst>
                    <a:ext uri="{9D8B030D-6E8A-4147-A177-3AD203B41FA5}">
                      <a16:colId xmlns:a16="http://schemas.microsoft.com/office/drawing/2014/main" val="2847862793"/>
                    </a:ext>
                  </a:extLst>
                </a:gridCol>
                <a:gridCol w="2730515">
                  <a:extLst>
                    <a:ext uri="{9D8B030D-6E8A-4147-A177-3AD203B41FA5}">
                      <a16:colId xmlns:a16="http://schemas.microsoft.com/office/drawing/2014/main" val="2123888980"/>
                    </a:ext>
                  </a:extLst>
                </a:gridCol>
                <a:gridCol w="2026975">
                  <a:extLst>
                    <a:ext uri="{9D8B030D-6E8A-4147-A177-3AD203B41FA5}">
                      <a16:colId xmlns:a16="http://schemas.microsoft.com/office/drawing/2014/main" val="3142135328"/>
                    </a:ext>
                  </a:extLst>
                </a:gridCol>
              </a:tblGrid>
              <a:tr h="521313">
                <a:tc>
                  <a:txBody>
                    <a:bodyPr/>
                    <a:lstStyle/>
                    <a:p>
                      <a:pPr algn="ctr" fontAlgn="t"/>
                      <a:r>
                        <a:rPr lang="zh-TW" altLang="en-US" sz="2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流程階段</a:t>
                      </a:r>
                      <a:endParaRPr lang="zh-TW" altLang="en-US" sz="2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39414" marR="39414" marT="39414" marB="3941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TW" altLang="en-US" sz="2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系統處理內容</a:t>
                      </a:r>
                      <a:endParaRPr lang="zh-TW" altLang="en-US" sz="2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39414" marR="39414" marT="39414" marB="3941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TW" altLang="en-US" sz="2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是否需人工介入</a:t>
                      </a:r>
                      <a:endParaRPr lang="zh-TW" altLang="en-US" sz="2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39414" marR="39414" marT="39414" marB="3941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TW" altLang="en-US" sz="24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相較完成版</a:t>
                      </a:r>
                      <a:endParaRPr lang="en-US" altLang="zh-TW" sz="24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algn="ctr" fontAlgn="t"/>
                      <a:r>
                        <a:rPr lang="zh-TW" altLang="en-US" sz="24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簡化</a:t>
                      </a:r>
                      <a:r>
                        <a:rPr lang="zh-TW" altLang="en-US" sz="2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說明</a:t>
                      </a:r>
                    </a:p>
                  </a:txBody>
                  <a:tcPr marL="39414" marR="39414" marT="39414" marB="3941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63796"/>
                  </a:ext>
                </a:extLst>
              </a:tr>
              <a:tr h="379505">
                <a:tc>
                  <a:txBody>
                    <a:bodyPr/>
                    <a:lstStyle/>
                    <a:p>
                      <a:r>
                        <a:rPr lang="en-US" altLang="zh-TW" sz="1200" b="1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1. </a:t>
                      </a:r>
                      <a:r>
                        <a:rPr lang="zh-TW" altLang="en-US" sz="1200" b="1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任務需求輸入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使用者輸入設計任務（如夜間港區巡邏 </a:t>
                      </a:r>
                      <a:r>
                        <a:rPr lang="en-US" altLang="zh-TW" sz="1200" b="0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zh-TW" altLang="en-US" sz="1200" b="0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船舶辨識）與條件（航時、感測器等）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 smtClean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需工程師指定並輸入</a:t>
                      </a:r>
                      <a:endParaRPr lang="zh-TW" altLang="en-US" sz="1200" b="1" dirty="0">
                        <a:latin typeface="Times New Roman" panose="02020603050405020304" pitchFamily="18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 smtClean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輸入範圍需侷限</a:t>
                      </a:r>
                      <a:endParaRPr lang="zh-TW" altLang="en-US" sz="1200" b="0" dirty="0">
                        <a:latin typeface="Times New Roman" panose="02020603050405020304" pitchFamily="18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072016"/>
                  </a:ext>
                </a:extLst>
              </a:tr>
              <a:tr h="379505">
                <a:tc>
                  <a:txBody>
                    <a:bodyPr/>
                    <a:lstStyle/>
                    <a:p>
                      <a:r>
                        <a:rPr lang="en-US" altLang="zh-TW" sz="1200" b="1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2. </a:t>
                      </a:r>
                      <a:r>
                        <a:rPr lang="zh-TW" altLang="en-US" sz="1200" b="1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任務解析與初步建議產出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LLM </a:t>
                      </a:r>
                      <a:r>
                        <a:rPr lang="zh-TW" altLang="en-US" sz="1200" b="0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對輸入文字進行解析，產出設計焦點、模組配置重點與初步查詢項目建議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 b="1" dirty="0" smtClean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✅ </a:t>
                      </a:r>
                      <a:r>
                        <a:rPr lang="en-US" altLang="zh-TW" sz="1200" b="1" dirty="0" smtClean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LLM</a:t>
                      </a:r>
                      <a:r>
                        <a:rPr lang="zh-TW" altLang="en-US" sz="1200" b="1" dirty="0" smtClean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自動完成 </a:t>
                      </a:r>
                      <a:r>
                        <a:rPr lang="en-US" altLang="zh-TW" sz="1200" b="1" dirty="0" smtClean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200" b="1" dirty="0" smtClean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結果需人工審閱</a:t>
                      </a:r>
                      <a:r>
                        <a:rPr lang="en-US" altLang="zh-TW" sz="1200" b="1" dirty="0" smtClean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1" dirty="0">
                        <a:latin typeface="Times New Roman" panose="02020603050405020304" pitchFamily="18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 smtClean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拆解範圍較侷限，以有效生成查詢條件為主</a:t>
                      </a:r>
                      <a:endParaRPr lang="zh-TW" altLang="en-US" sz="1200" b="0" dirty="0">
                        <a:latin typeface="Times New Roman" panose="02020603050405020304" pitchFamily="18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658321"/>
                  </a:ext>
                </a:extLst>
              </a:tr>
              <a:tr h="379505">
                <a:tc>
                  <a:txBody>
                    <a:bodyPr/>
                    <a:lstStyle/>
                    <a:p>
                      <a:r>
                        <a:rPr lang="en-US" altLang="zh-TW" sz="1200" b="1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3. </a:t>
                      </a:r>
                      <a:r>
                        <a:rPr lang="zh-TW" altLang="en-US" sz="1200" b="1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元件查詢與設定（</a:t>
                      </a:r>
                      <a:r>
                        <a:rPr lang="en-US" altLang="zh-TW" sz="1200" b="1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RAG</a:t>
                      </a:r>
                      <a:r>
                        <a:rPr lang="zh-TW" altLang="en-US" sz="1200" b="1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）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使用者依照建議向系統查詢元件（電池、相機等），</a:t>
                      </a:r>
                      <a:r>
                        <a:rPr lang="en-US" altLang="zh-TW" sz="1200" b="0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RAG </a:t>
                      </a:r>
                      <a:r>
                        <a:rPr lang="zh-TW" altLang="en-US" sz="1200" b="0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回應有限規模元件資料與開發案例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 smtClean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使用者互動後設定 </a:t>
                      </a:r>
                      <a:r>
                        <a:rPr lang="en-US" altLang="zh-TW" sz="1200" b="1" dirty="0" smtClean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(LLM+RAG)</a:t>
                      </a:r>
                      <a:endParaRPr lang="zh-TW" altLang="en-US" sz="1200" b="1" dirty="0">
                        <a:latin typeface="Times New Roman" panose="02020603050405020304" pitchFamily="18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限於「資料查找」層級，無法做深層推薦（完整</a:t>
                      </a:r>
                      <a:r>
                        <a:rPr lang="zh-TW" altLang="en-US" sz="1200" b="0" dirty="0" smtClean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版訓練知識圖譜配合工作流做推薦）</a:t>
                      </a:r>
                      <a:endParaRPr lang="zh-TW" altLang="en-US" sz="1200" b="0" dirty="0">
                        <a:latin typeface="Times New Roman" panose="02020603050405020304" pitchFamily="18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765687"/>
                  </a:ext>
                </a:extLst>
              </a:tr>
              <a:tr h="379505">
                <a:tc>
                  <a:txBody>
                    <a:bodyPr/>
                    <a:lstStyle/>
                    <a:p>
                      <a:r>
                        <a:rPr lang="en-US" altLang="zh-TW" sz="1200" b="1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4. </a:t>
                      </a:r>
                      <a:r>
                        <a:rPr lang="zh-TW" altLang="en-US" sz="1200" b="1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模擬自動執行（第一輪）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系統自動呼叫連結模擬軟體（如 </a:t>
                      </a:r>
                      <a:r>
                        <a:rPr lang="en-US" altLang="zh-TW" sz="1200" b="0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CFD</a:t>
                      </a:r>
                      <a:r>
                        <a:rPr lang="zh-TW" altLang="en-US" sz="1200" b="0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、結構模擬、通訊測試）並產出初步模擬結果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1" dirty="0" smtClean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✅ 自動完成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與完整版一致；使用固定介面與參數模板串模擬 </a:t>
                      </a:r>
                      <a:r>
                        <a:rPr lang="en-US" altLang="zh-TW" sz="1200" b="0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API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1162655"/>
                  </a:ext>
                </a:extLst>
              </a:tr>
              <a:tr h="379505">
                <a:tc>
                  <a:txBody>
                    <a:bodyPr/>
                    <a:lstStyle/>
                    <a:p>
                      <a:r>
                        <a:rPr lang="en-US" altLang="zh-TW" sz="1200" b="1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5. </a:t>
                      </a:r>
                      <a:r>
                        <a:rPr lang="zh-TW" altLang="en-US" sz="1200" b="1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協作分析與模組指派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dirty="0" smtClean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a.</a:t>
                      </a:r>
                      <a:r>
                        <a:rPr lang="zh-TW" altLang="en-US" sz="1200" b="0" dirty="0" smtClean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根據</a:t>
                      </a:r>
                      <a:r>
                        <a:rPr lang="zh-TW" altLang="en-US" sz="1200" b="0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模擬</a:t>
                      </a:r>
                      <a:r>
                        <a:rPr lang="zh-TW" altLang="en-US" sz="1200" b="0" dirty="0" smtClean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輸出分析指派模組</a:t>
                      </a:r>
                      <a:r>
                        <a:rPr lang="zh-TW" altLang="en-US" sz="1200" b="0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責任與建議</a:t>
                      </a:r>
                      <a:r>
                        <a:rPr lang="zh-TW" altLang="en-US" sz="1200" b="0" dirty="0" smtClean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altLang="zh-TW" sz="1200" b="0" dirty="0" smtClean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LLM</a:t>
                      </a:r>
                      <a:r>
                        <a:rPr lang="zh-TW" altLang="en-US" sz="1200" b="0" dirty="0" smtClean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生成具體溝通語句）</a:t>
                      </a:r>
                      <a:endParaRPr lang="en-US" altLang="zh-TW" sz="1200" b="0" dirty="0" smtClean="0">
                        <a:latin typeface="Times New Roman" panose="02020603050405020304" pitchFamily="18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altLang="zh-TW" sz="1200" b="0" dirty="0" smtClean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b.</a:t>
                      </a:r>
                      <a:r>
                        <a:rPr lang="zh-TW" altLang="en-US" sz="1200" b="0" dirty="0" smtClean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系統整合相關資訊後</a:t>
                      </a:r>
                      <a:r>
                        <a:rPr lang="en-US" altLang="zh-TW" sz="1200" b="0" dirty="0" smtClean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200" b="0" dirty="0" smtClean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前次模擬數據</a:t>
                      </a:r>
                      <a:r>
                        <a:rPr lang="en-US" altLang="zh-TW" sz="1200" b="0" dirty="0" smtClean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lang="zh-TW" altLang="en-US" sz="1200" b="0" dirty="0" smtClean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工程師回饋</a:t>
                      </a:r>
                      <a:r>
                        <a:rPr lang="en-US" altLang="zh-TW" sz="1200" b="0" dirty="0" smtClean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lang="zh-TW" altLang="en-US" sz="1200" b="0" dirty="0" smtClean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知識庫推薦參數</a:t>
                      </a:r>
                      <a:r>
                        <a:rPr lang="en-US" altLang="zh-TW" sz="1200" b="0" dirty="0" smtClean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TW" altLang="en-US" sz="1200" b="0" dirty="0" smtClean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，輸入 </a:t>
                      </a:r>
                      <a:r>
                        <a:rPr lang="en-US" altLang="zh-TW" sz="1200" b="0" dirty="0" smtClean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Agent</a:t>
                      </a:r>
                      <a:r>
                        <a:rPr lang="zh-TW" altLang="en-US" sz="1200" b="0" dirty="0" smtClean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工作流產生下一輪元件建議與設定修正</a:t>
                      </a:r>
                      <a:endParaRPr lang="zh-TW" altLang="en-US" sz="1200" b="0" dirty="0">
                        <a:latin typeface="Times New Roman" panose="02020603050405020304" pitchFamily="18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 smtClean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需工程師</a:t>
                      </a:r>
                      <a:r>
                        <a:rPr lang="zh-TW" altLang="en-US" sz="1200" b="1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審閱與確認可行性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此步為重點展示項：協作提示、分工模擬、強調部門對齊（如結構 </a:t>
                      </a:r>
                      <a:r>
                        <a:rPr lang="en-US" altLang="zh-TW" sz="1200" b="0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vs </a:t>
                      </a:r>
                      <a:r>
                        <a:rPr lang="zh-TW" altLang="en-US" sz="1200" b="0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感測）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3569069"/>
                  </a:ext>
                </a:extLst>
              </a:tr>
              <a:tr h="379505">
                <a:tc>
                  <a:txBody>
                    <a:bodyPr/>
                    <a:lstStyle/>
                    <a:p>
                      <a:r>
                        <a:rPr lang="en-US" altLang="zh-TW" sz="1200" b="1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6. </a:t>
                      </a:r>
                      <a:r>
                        <a:rPr lang="zh-TW" altLang="en-US" sz="1200" b="1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修正參數</a:t>
                      </a:r>
                      <a:r>
                        <a:rPr lang="zh-TW" altLang="en-US" sz="1200" b="1" dirty="0" smtClean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與再次模擬</a:t>
                      </a:r>
                      <a:r>
                        <a:rPr lang="zh-TW" altLang="en-US" sz="1200" b="1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（迴圈）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根據前述問題與人工回饋，系統更新元件配置參數</a:t>
                      </a:r>
                      <a:r>
                        <a:rPr lang="zh-TW" altLang="en-US" sz="1200" b="0" dirty="0" smtClean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並視情況重</a:t>
                      </a:r>
                      <a:r>
                        <a:rPr lang="zh-TW" altLang="en-US" sz="1200" b="0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啟模擬流程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 smtClean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需使用者</a:t>
                      </a:r>
                      <a:r>
                        <a:rPr lang="zh-TW" altLang="en-US" sz="1200" b="1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決定是否修正並重新模擬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系統跑至第 </a:t>
                      </a:r>
                      <a:r>
                        <a:rPr lang="en-US" altLang="zh-TW" sz="1200" b="0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2 </a:t>
                      </a:r>
                      <a:r>
                        <a:rPr lang="zh-TW" altLang="en-US" sz="1200" b="0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輪為止；完整版可多次疊代與優化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433562"/>
                  </a:ext>
                </a:extLst>
              </a:tr>
              <a:tr h="379505">
                <a:tc>
                  <a:txBody>
                    <a:bodyPr/>
                    <a:lstStyle/>
                    <a:p>
                      <a:r>
                        <a:rPr lang="en-US" altLang="zh-TW" sz="1200" b="1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7. </a:t>
                      </a:r>
                      <a:r>
                        <a:rPr lang="zh-TW" altLang="en-US" sz="1200" b="1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統整設計結果與生成報告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 smtClean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系統統整所有資訊後，視狀況進行人為補充，最後自動</a:t>
                      </a:r>
                      <a:r>
                        <a:rPr lang="zh-TW" altLang="en-US" sz="1200" b="0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產出：設計歷程紀錄、參數設定檔（含前後比對）、模擬圖、</a:t>
                      </a:r>
                      <a:r>
                        <a:rPr lang="en-US" altLang="zh-TW" sz="1200" b="0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BOM </a:t>
                      </a:r>
                      <a:r>
                        <a:rPr lang="zh-TW" altLang="en-US" sz="1200" b="0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與設計建議報告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1" dirty="0" smtClean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✅ 自動完成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強調報告有引用出處、設定版本與協作紀錄，具交付標準；完整版將包含更多模組與資料範圍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5469846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D37D3983-17E9-D85E-5C68-4B8ACB4607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4202782"/>
              </p:ext>
            </p:extLst>
          </p:nvPr>
        </p:nvGraphicFramePr>
        <p:xfrm>
          <a:off x="1731628" y="-2695327"/>
          <a:ext cx="6799928" cy="2560320"/>
        </p:xfrm>
        <a:graphic>
          <a:graphicData uri="http://schemas.openxmlformats.org/drawingml/2006/table">
            <a:tbl>
              <a:tblPr/>
              <a:tblGrid>
                <a:gridCol w="3399964">
                  <a:extLst>
                    <a:ext uri="{9D8B030D-6E8A-4147-A177-3AD203B41FA5}">
                      <a16:colId xmlns:a16="http://schemas.microsoft.com/office/drawing/2014/main" val="1131264634"/>
                    </a:ext>
                  </a:extLst>
                </a:gridCol>
                <a:gridCol w="3399964">
                  <a:extLst>
                    <a:ext uri="{9D8B030D-6E8A-4147-A177-3AD203B41FA5}">
                      <a16:colId xmlns:a16="http://schemas.microsoft.com/office/drawing/2014/main" val="421032213"/>
                    </a:ext>
                  </a:extLst>
                </a:gridCol>
              </a:tblGrid>
              <a:tr h="143699">
                <a:tc>
                  <a:txBody>
                    <a:bodyPr/>
                    <a:lstStyle/>
                    <a:p>
                      <a:r>
                        <a:rPr lang="zh-TW" altLang="en-US" sz="1200"/>
                        <a:t>類別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/>
                        <a:t>展示重點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830582"/>
                  </a:ext>
                </a:extLst>
              </a:tr>
              <a:tr h="431096">
                <a:tc>
                  <a:txBody>
                    <a:bodyPr/>
                    <a:lstStyle/>
                    <a:p>
                      <a:r>
                        <a:rPr lang="zh-TW" altLang="en-US" sz="1200"/>
                        <a:t>模組對應實務角色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/>
                        <a:t>三模組分別對應「動力組」、「感測與飛控組」、「結構組」的不同教師或部門設計責任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067937"/>
                  </a:ext>
                </a:extLst>
              </a:tr>
              <a:tr h="335297">
                <a:tc>
                  <a:txBody>
                    <a:bodyPr/>
                    <a:lstStyle/>
                    <a:p>
                      <a:r>
                        <a:rPr lang="zh-TW" altLang="en-US" sz="1200"/>
                        <a:t>協作界面呈現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/>
                        <a:t>每次調整後都會顯示：</a:t>
                      </a:r>
                      <a:r>
                        <a:rPr lang="zh-TW" altLang="en-US" sz="1200" b="1"/>
                        <a:t>影響到誰、為什麼要溝通、該由誰回應</a:t>
                      </a:r>
                      <a:endParaRPr lang="zh-TW" alt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5894506"/>
                  </a:ext>
                </a:extLst>
              </a:tr>
              <a:tr h="431096">
                <a:tc>
                  <a:txBody>
                    <a:bodyPr/>
                    <a:lstStyle/>
                    <a:p>
                      <a:r>
                        <a:rPr lang="zh-TW" altLang="en-US" sz="1200"/>
                        <a:t>類比產業協作情境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/>
                        <a:t>如同半導體設計中濕蝕刻與乾蝕刻需同步調整製程，平台可模擬協作與風險控制流程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8300000"/>
                  </a:ext>
                </a:extLst>
              </a:tr>
              <a:tr h="431096">
                <a:tc>
                  <a:txBody>
                    <a:bodyPr/>
                    <a:lstStyle/>
                    <a:p>
                      <a:r>
                        <a:rPr lang="zh-TW" altLang="en-US" sz="1200"/>
                        <a:t>模擬參數回饋設計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串接模擬軟體後回饋具體建議，如「建議減輕掛載重量」「請檢查馬達冷卻設計」等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924640"/>
                  </a:ext>
                </a:extLst>
              </a:tr>
              <a:tr h="335297"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可供成果展示的產出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系統可匯出整套參數決策歷程＋部門協作摘要，用於審查或說明整合價值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70392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2741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圓角矩形 11">
            <a:extLst>
              <a:ext uri="{FF2B5EF4-FFF2-40B4-BE49-F238E27FC236}">
                <a16:creationId xmlns:a16="http://schemas.microsoft.com/office/drawing/2014/main" id="{AB55079F-E6B8-55E5-FD86-346BC2BF4C1B}"/>
              </a:ext>
            </a:extLst>
          </p:cNvPr>
          <p:cNvSpPr/>
          <p:nvPr/>
        </p:nvSpPr>
        <p:spPr>
          <a:xfrm>
            <a:off x="247984" y="1083043"/>
            <a:ext cx="5556293" cy="55245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使用者</a:t>
            </a:r>
            <a:r>
              <a:rPr lang="zh-TW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操作：</a:t>
            </a:r>
          </a:p>
          <a:p>
            <a:pPr lvl="1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輸入任務：「港區巡邏偵察路徑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+ 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夜間偷渡船舶辨識」</a:t>
            </a:r>
            <a:b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限制條件：「長航時、低光環境、即時傳輸」</a:t>
            </a:r>
          </a:p>
          <a:p>
            <a:r>
              <a:rPr lang="zh-TW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系統</a:t>
            </a:r>
            <a:r>
              <a:rPr lang="zh-TW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（</a:t>
            </a:r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LLM</a:t>
            </a:r>
            <a:r>
              <a:rPr lang="zh-TW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）回應：</a:t>
            </a:r>
          </a:p>
          <a:p>
            <a:pPr indent="442913"/>
            <a:r>
              <a:rPr lang="zh-TW" altLang="en-US" dirty="0" smtClean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建議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聚焦以下模組設計重點：</a:t>
            </a:r>
          </a:p>
          <a:p>
            <a:pPr marL="715963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推進與能源模組：長航時、高能量密度</a:t>
            </a:r>
          </a:p>
          <a:p>
            <a:pPr marL="2779713" indent="-2063750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感測與資料鏈模組：夜視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/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紅外模組與穩定資料傳輸</a:t>
            </a:r>
          </a:p>
          <a:p>
            <a:pPr marL="2508250" indent="-1792288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結構與機體模組：穩定掛載重感測器、維持飛行穩定性</a:t>
            </a:r>
          </a:p>
          <a:p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E1B6573-4238-9DC6-35BB-49CE42044167}"/>
              </a:ext>
            </a:extLst>
          </p:cNvPr>
          <p:cNvSpPr txBox="1"/>
          <p:nvPr/>
        </p:nvSpPr>
        <p:spPr>
          <a:xfrm>
            <a:off x="4356589" y="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en-US" b="1" dirty="0"/>
              <a:t>🚀 無人機設計平台展示</a:t>
            </a:r>
            <a:r>
              <a:rPr lang="zh-TW" altLang="en-US" b="1" dirty="0" smtClean="0"/>
              <a:t>操作</a:t>
            </a:r>
            <a:r>
              <a:rPr lang="zh-TW" altLang="en-US" b="1" dirty="0"/>
              <a:t>範本</a:t>
            </a:r>
            <a:r>
              <a:rPr lang="zh-TW" altLang="en-US" b="1" dirty="0" smtClean="0"/>
              <a:t>（</a:t>
            </a:r>
            <a:r>
              <a:rPr lang="en-US" altLang="zh-TW" b="1" dirty="0"/>
              <a:t>5 </a:t>
            </a:r>
            <a:r>
              <a:rPr lang="zh-TW" altLang="en-US" b="1" dirty="0"/>
              <a:t>步驟版）</a:t>
            </a:r>
          </a:p>
          <a:p>
            <a:r>
              <a:rPr lang="zh-TW" altLang="en-US" dirty="0"/>
              <a:t>📘 案例：「港區巡邏 </a:t>
            </a:r>
            <a:r>
              <a:rPr lang="en-US" altLang="zh-TW" dirty="0"/>
              <a:t>+ </a:t>
            </a:r>
            <a:r>
              <a:rPr lang="zh-TW" altLang="en-US" dirty="0"/>
              <a:t>夜間偷渡辨識任務」</a:t>
            </a:r>
            <a:br>
              <a:rPr lang="zh-TW" altLang="en-US" dirty="0"/>
            </a:br>
            <a:r>
              <a:rPr lang="zh-TW" altLang="en-US" dirty="0"/>
              <a:t>🎯 亮點：模擬整合 </a:t>
            </a:r>
            <a:r>
              <a:rPr lang="en-US" altLang="zh-TW" dirty="0"/>
              <a:t>× </a:t>
            </a:r>
            <a:r>
              <a:rPr lang="zh-TW" altLang="en-US" dirty="0"/>
              <a:t>跨模組協作 </a:t>
            </a:r>
            <a:r>
              <a:rPr lang="en-US" altLang="zh-TW" dirty="0"/>
              <a:t>× AI </a:t>
            </a:r>
            <a:r>
              <a:rPr lang="zh-TW" altLang="en-US" dirty="0"/>
              <a:t>輔助互動</a:t>
            </a:r>
          </a:p>
        </p:txBody>
      </p:sp>
      <p:sp>
        <p:nvSpPr>
          <p:cNvPr id="11" name="圓角矩形 11">
            <a:extLst>
              <a:ext uri="{FF2B5EF4-FFF2-40B4-BE49-F238E27FC236}">
                <a16:creationId xmlns:a16="http://schemas.microsoft.com/office/drawing/2014/main" id="{3B53B396-59E1-DD3F-644C-715F4363ED40}"/>
              </a:ext>
            </a:extLst>
          </p:cNvPr>
          <p:cNvSpPr/>
          <p:nvPr/>
        </p:nvSpPr>
        <p:spPr>
          <a:xfrm>
            <a:off x="6334459" y="1031381"/>
            <a:ext cx="5441616" cy="55245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TW" dirty="0" smtClean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使用者</a:t>
            </a:r>
            <a:r>
              <a:rPr lang="zh-TW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查詢（</a:t>
            </a:r>
            <a:r>
              <a:rPr lang="en-US" altLang="zh-TW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RAG+LLM</a:t>
            </a:r>
            <a:r>
              <a:rPr lang="zh-TW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）：</a:t>
            </a:r>
          </a:p>
          <a:p>
            <a:pPr indent="361950"/>
            <a:r>
              <a:rPr lang="zh-TW" altLang="en-US" dirty="0" smtClean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「夜間任務有哪些低光模組推薦？」</a:t>
            </a:r>
          </a:p>
          <a:p>
            <a:pPr indent="361950"/>
            <a:r>
              <a:rPr lang="zh-TW" altLang="en-US" dirty="0" smtClean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「過去使用雙電池配置的馬達案例有哪些？」</a:t>
            </a:r>
          </a:p>
          <a:p>
            <a:pPr indent="361950"/>
            <a:r>
              <a:rPr lang="zh-TW" altLang="en-US" dirty="0" smtClean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「結構上曾遇到過掛載過重的問題嗎？」</a:t>
            </a:r>
          </a:p>
          <a:p>
            <a:endParaRPr lang="en-US" altLang="zh-TW" b="1" dirty="0" smtClean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系統（</a:t>
            </a:r>
            <a:r>
              <a:rPr lang="en-US" altLang="zh-TW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RAG + </a:t>
            </a:r>
            <a:r>
              <a:rPr lang="zh-TW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知識庫）回答：</a:t>
            </a:r>
          </a:p>
          <a:p>
            <a:pPr marL="1349375" indent="-987425"/>
            <a:r>
              <a:rPr lang="zh-TW" alt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可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選模組：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FLIR Tau2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（紅外線）、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SONY STARVIS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（低光）</a:t>
            </a:r>
          </a:p>
          <a:p>
            <a:pPr marL="1349375" indent="-987425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馬達案例：雙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4S 5200mAh + 880KV 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馬達可達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45 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分鐘</a:t>
            </a:r>
          </a:p>
          <a:p>
            <a:pPr marL="1349375" indent="-987425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結構提醒：掛載重心偏移會導致起落架彈跳過大</a:t>
            </a:r>
          </a:p>
          <a:p>
            <a:endParaRPr lang="en-US" altLang="zh-TW" b="1" dirty="0" smtClean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使用者</a:t>
            </a:r>
            <a:r>
              <a:rPr lang="zh-TW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依查詢結果設定初步元件組合：</a:t>
            </a:r>
          </a:p>
          <a:p>
            <a:pPr marL="361950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馬達：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880KV</a:t>
            </a:r>
          </a:p>
          <a:p>
            <a:pPr marL="361950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電池：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4S 5200mAh ×2</a:t>
            </a:r>
          </a:p>
          <a:p>
            <a:pPr marL="361950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感測器：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FLIR Tau2</a:t>
            </a:r>
          </a:p>
          <a:p>
            <a:pPr marL="361950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結構：翼展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1200mm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、中等強度翼肋設計</a:t>
            </a:r>
          </a:p>
        </p:txBody>
      </p:sp>
      <p:sp>
        <p:nvSpPr>
          <p:cNvPr id="2" name="矩形 1"/>
          <p:cNvSpPr/>
          <p:nvPr/>
        </p:nvSpPr>
        <p:spPr>
          <a:xfrm>
            <a:off x="247984" y="1031381"/>
            <a:ext cx="5556293" cy="461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2400" b="1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Step </a:t>
            </a:r>
            <a:r>
              <a:rPr lang="en-US" altLang="zh-TW" sz="24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r>
              <a:rPr lang="zh-TW" altLang="en-US" sz="2400" b="1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｜輸入</a:t>
            </a:r>
            <a:r>
              <a:rPr lang="zh-TW" altLang="en-US" sz="24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任務需求 </a:t>
            </a:r>
            <a:r>
              <a:rPr lang="en-US" altLang="zh-TW" sz="24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+ </a:t>
            </a:r>
            <a:r>
              <a:rPr lang="zh-TW" altLang="en-US" sz="24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系統初步解析</a:t>
            </a:r>
            <a:endParaRPr lang="en-US" altLang="zh-TW" sz="2400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334460" y="1031381"/>
            <a:ext cx="5441616" cy="461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2400" b="1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Step </a:t>
            </a:r>
            <a:r>
              <a:rPr lang="en-US" altLang="zh-TW" sz="24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r>
              <a:rPr lang="zh-TW" altLang="en-US" sz="24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｜元件查詢與初步設定</a:t>
            </a:r>
          </a:p>
        </p:txBody>
      </p:sp>
    </p:spTree>
    <p:extLst>
      <p:ext uri="{BB962C8B-B14F-4D97-AF65-F5344CB8AC3E}">
        <p14:creationId xmlns:p14="http://schemas.microsoft.com/office/powerpoint/2010/main" val="882696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圓角矩形 11">
            <a:extLst>
              <a:ext uri="{FF2B5EF4-FFF2-40B4-BE49-F238E27FC236}">
                <a16:creationId xmlns:a16="http://schemas.microsoft.com/office/drawing/2014/main" id="{A36DAAB8-39A1-D4E6-4096-E0083756AED2}"/>
              </a:ext>
            </a:extLst>
          </p:cNvPr>
          <p:cNvSpPr/>
          <p:nvPr/>
        </p:nvSpPr>
        <p:spPr>
          <a:xfrm>
            <a:off x="140997" y="339261"/>
            <a:ext cx="5224202" cy="44300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TW" b="1" dirty="0" smtClean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系統</a:t>
            </a:r>
            <a:r>
              <a:rPr lang="zh-TW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自動串接模擬：</a:t>
            </a:r>
          </a:p>
          <a:p>
            <a:pPr indent="447675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電池與負載：續航模擬</a:t>
            </a:r>
          </a:p>
          <a:p>
            <a:pPr indent="447675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掛載與重心：結構分析</a:t>
            </a:r>
          </a:p>
          <a:p>
            <a:pPr indent="447675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傳輸頻寬：影像資料</a:t>
            </a:r>
            <a:r>
              <a:rPr lang="zh-TW" alt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模擬</a:t>
            </a:r>
            <a:endParaRPr lang="en-US" altLang="zh-TW" sz="1600" dirty="0" smtClean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indent="447675"/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模擬</a:t>
            </a:r>
            <a:r>
              <a:rPr lang="zh-TW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結果摘要：</a:t>
            </a:r>
          </a:p>
          <a:p>
            <a:pPr indent="447675"/>
            <a:r>
              <a:rPr lang="zh-TW" altLang="en-US" dirty="0">
                <a:solidFill>
                  <a:srgbClr val="00B05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航時預估：</a:t>
            </a:r>
            <a:r>
              <a:rPr lang="en-US" altLang="zh-TW" dirty="0">
                <a:solidFill>
                  <a:srgbClr val="00B05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47 </a:t>
            </a:r>
            <a:r>
              <a:rPr lang="zh-TW" altLang="en-US" dirty="0">
                <a:solidFill>
                  <a:srgbClr val="00B05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分鐘 ✅</a:t>
            </a:r>
          </a:p>
          <a:p>
            <a:pPr indent="447675"/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傳輸</a:t>
            </a:r>
            <a:r>
              <a:rPr lang="zh-TW" altLang="en-US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延遲</a:t>
            </a:r>
            <a:r>
              <a:rPr lang="en-US" altLang="zh-TW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180ms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❗</a:t>
            </a:r>
          </a:p>
          <a:p>
            <a:pPr indent="447675"/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重心偏移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12% ❗</a:t>
            </a:r>
          </a:p>
          <a:p>
            <a:pPr indent="447675"/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電池區域高溫分布 </a:t>
            </a:r>
            <a:r>
              <a:rPr lang="zh-TW" altLang="en-US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❗</a:t>
            </a:r>
            <a:endParaRPr lang="en-US" altLang="zh-TW" dirty="0" smtClean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indent="447675"/>
            <a:endParaRPr lang="en-US" altLang="zh-TW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系統</a:t>
            </a:r>
            <a:r>
              <a:rPr lang="zh-TW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回饋建議：</a:t>
            </a:r>
          </a:p>
          <a:p>
            <a:pPr marL="447675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「建議使用重量更輕的紅外模組，或調整電池配置位置」</a:t>
            </a:r>
            <a:b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「建議降低影像頻率或使用抗干擾模組」</a:t>
            </a:r>
            <a:b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「請檢查翼肋補強是否可吸收重心偏移</a:t>
            </a:r>
            <a:r>
              <a:rPr lang="zh-TW" alt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」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5" name="圓角矩形 11">
            <a:extLst>
              <a:ext uri="{FF2B5EF4-FFF2-40B4-BE49-F238E27FC236}">
                <a16:creationId xmlns:a16="http://schemas.microsoft.com/office/drawing/2014/main" id="{1AE52EB7-6FE5-C066-2913-B70D813C4EA7}"/>
              </a:ext>
            </a:extLst>
          </p:cNvPr>
          <p:cNvSpPr/>
          <p:nvPr/>
        </p:nvSpPr>
        <p:spPr>
          <a:xfrm>
            <a:off x="5908037" y="428575"/>
            <a:ext cx="5936916" cy="4340708"/>
          </a:xfrm>
          <a:prstGeom prst="roundRect">
            <a:avLst>
              <a:gd name="adj" fmla="val 1088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系統</a:t>
            </a:r>
            <a:r>
              <a:rPr lang="zh-TW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根據模擬結果，對應模組責任並分派問題：</a:t>
            </a:r>
            <a:endParaRPr lang="en-US" altLang="zh-TW" b="1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en-US" dirty="0" smtClean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工程師回覆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後，系統整合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前次模擬數據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+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工程師回饋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+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知識庫推薦參數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，輸入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Agent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產生第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 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輪元件建議與設定修正</a:t>
            </a:r>
            <a:b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→ </a:t>
            </a:r>
            <a:r>
              <a:rPr lang="zh-TW" altLang="en-US" dirty="0" smtClean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跳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回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Step 3 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執行下一輪</a:t>
            </a:r>
            <a:r>
              <a:rPr lang="zh-TW" altLang="en-US" dirty="0" smtClean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模擬 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6958D2C-7904-FFE2-B6FB-1D2E20FD14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003428"/>
              </p:ext>
            </p:extLst>
          </p:nvPr>
        </p:nvGraphicFramePr>
        <p:xfrm>
          <a:off x="6013098" y="1163412"/>
          <a:ext cx="5726793" cy="1669806"/>
        </p:xfrm>
        <a:graphic>
          <a:graphicData uri="http://schemas.openxmlformats.org/drawingml/2006/table">
            <a:tbl>
              <a:tblPr/>
              <a:tblGrid>
                <a:gridCol w="1067707">
                  <a:extLst>
                    <a:ext uri="{9D8B030D-6E8A-4147-A177-3AD203B41FA5}">
                      <a16:colId xmlns:a16="http://schemas.microsoft.com/office/drawing/2014/main" val="152763912"/>
                    </a:ext>
                  </a:extLst>
                </a:gridCol>
                <a:gridCol w="899886">
                  <a:extLst>
                    <a:ext uri="{9D8B030D-6E8A-4147-A177-3AD203B41FA5}">
                      <a16:colId xmlns:a16="http://schemas.microsoft.com/office/drawing/2014/main" val="1955688998"/>
                    </a:ext>
                  </a:extLst>
                </a:gridCol>
                <a:gridCol w="3759200">
                  <a:extLst>
                    <a:ext uri="{9D8B030D-6E8A-4147-A177-3AD203B41FA5}">
                      <a16:colId xmlns:a16="http://schemas.microsoft.com/office/drawing/2014/main" val="3040904733"/>
                    </a:ext>
                  </a:extLst>
                </a:gridCol>
              </a:tblGrid>
              <a:tr h="278301"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問題主軸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指派對象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洽詢內容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4057926"/>
                  </a:ext>
                </a:extLst>
              </a:tr>
              <a:tr h="463835"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重心偏移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結構</a:t>
                      </a:r>
                      <a:r>
                        <a:rPr lang="zh-TW" altLang="en-US" sz="1200" dirty="0" smtClean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模組負責人</a:t>
                      </a:r>
                      <a:endParaRPr lang="zh-TW" altLang="en-US" sz="1200" dirty="0">
                        <a:latin typeface="Times New Roman" panose="02020603050405020304" pitchFamily="18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是否可調整掛載位置？副翼是否需補強？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6400256"/>
                  </a:ext>
                </a:extLst>
              </a:tr>
              <a:tr h="463835"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延遲過高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感測</a:t>
                      </a:r>
                      <a:r>
                        <a:rPr lang="zh-TW" altLang="en-US" sz="1200" dirty="0" smtClean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模組負責人</a:t>
                      </a:r>
                      <a:endParaRPr lang="zh-TW" altLang="en-US" sz="1200" dirty="0">
                        <a:latin typeface="Times New Roman" panose="02020603050405020304" pitchFamily="18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是否調整影像壓縮設定？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1424122"/>
                  </a:ext>
                </a:extLst>
              </a:tr>
              <a:tr h="463835">
                <a:tc>
                  <a:txBody>
                    <a:bodyPr/>
                    <a:lstStyle/>
                    <a:p>
                      <a:r>
                        <a:rPr lang="zh-TW" altLang="en-US" sz="120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高溫異常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動力</a:t>
                      </a:r>
                      <a:r>
                        <a:rPr lang="zh-TW" altLang="en-US" sz="1200" dirty="0" smtClean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模組負責人</a:t>
                      </a:r>
                      <a:endParaRPr lang="zh-TW" altLang="en-US" sz="1200" dirty="0">
                        <a:latin typeface="Times New Roman" panose="02020603050405020304" pitchFamily="18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電池配置是否可左右對稱？是否需主控溫控設定？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6659369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FB5ECD5D-D3FA-A393-DCBA-FEC8AC2530A1}"/>
              </a:ext>
            </a:extLst>
          </p:cNvPr>
          <p:cNvSpPr txBox="1"/>
          <p:nvPr/>
        </p:nvSpPr>
        <p:spPr>
          <a:xfrm>
            <a:off x="-9020792" y="-3540683"/>
            <a:ext cx="4950733" cy="178510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zh-TW" sz="1100" dirty="0">
                <a:solidFill>
                  <a:srgbClr val="C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battery:</a:t>
            </a:r>
          </a:p>
          <a:p>
            <a:r>
              <a:rPr lang="en-US" altLang="zh-TW" sz="1100" dirty="0">
                <a:solidFill>
                  <a:srgbClr val="C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1100" dirty="0" err="1">
                <a:solidFill>
                  <a:srgbClr val="C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cell_count</a:t>
            </a:r>
            <a:r>
              <a:rPr lang="en-US" altLang="zh-TW" sz="1100" dirty="0">
                <a:solidFill>
                  <a:srgbClr val="C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: 4                </a:t>
            </a:r>
            <a:r>
              <a:rPr lang="en-US" altLang="zh-TW" sz="1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# </a:t>
            </a:r>
            <a:r>
              <a:rPr lang="zh-TW" altLang="en-US" sz="11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使用 </a:t>
            </a:r>
            <a:r>
              <a:rPr lang="en-US" altLang="zh-TW" sz="11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4S </a:t>
            </a:r>
            <a:r>
              <a:rPr lang="zh-TW" altLang="en-US" sz="11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鋰電池組</a:t>
            </a:r>
          </a:p>
          <a:p>
            <a:r>
              <a:rPr lang="zh-TW" altLang="en-US" sz="11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1100" dirty="0" err="1">
                <a:solidFill>
                  <a:srgbClr val="C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capacity_mAh</a:t>
            </a:r>
            <a:r>
              <a:rPr lang="en-US" altLang="zh-TW" sz="1100" dirty="0">
                <a:solidFill>
                  <a:srgbClr val="C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: 5200   </a:t>
            </a:r>
            <a:r>
              <a:rPr lang="en-US" altLang="zh-TW" sz="1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# </a:t>
            </a:r>
            <a:r>
              <a:rPr lang="zh-TW" altLang="en-US" sz="11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電池容量為 </a:t>
            </a:r>
            <a:r>
              <a:rPr lang="en-US" altLang="zh-TW" sz="11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5200mAh</a:t>
            </a:r>
            <a:r>
              <a:rPr lang="zh-TW" altLang="en-US" sz="11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，預期提供 </a:t>
            </a:r>
            <a:r>
              <a:rPr lang="en-US" altLang="zh-TW" sz="11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45~50 </a:t>
            </a:r>
            <a:r>
              <a:rPr lang="zh-TW" altLang="en-US" sz="11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分鐘續航</a:t>
            </a:r>
          </a:p>
          <a:p>
            <a:endParaRPr lang="zh-TW" altLang="en-US" sz="1100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en-US" altLang="zh-TW" sz="1100" dirty="0">
                <a:solidFill>
                  <a:srgbClr val="C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camera:</a:t>
            </a:r>
          </a:p>
          <a:p>
            <a:r>
              <a:rPr lang="en-US" altLang="zh-TW" sz="1100" dirty="0">
                <a:solidFill>
                  <a:srgbClr val="C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 fps: 60                         </a:t>
            </a:r>
            <a:r>
              <a:rPr lang="en-US" altLang="zh-TW" sz="11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# </a:t>
            </a:r>
            <a:r>
              <a:rPr lang="zh-TW" altLang="en-US" sz="11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紅外模組</a:t>
            </a:r>
            <a:r>
              <a:rPr lang="zh-TW" altLang="en-US" sz="1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設定每</a:t>
            </a:r>
            <a:r>
              <a:rPr lang="zh-TW" altLang="en-US" sz="11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秒 </a:t>
            </a:r>
            <a:r>
              <a:rPr lang="en-US" altLang="zh-TW" sz="11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60 </a:t>
            </a:r>
            <a:r>
              <a:rPr lang="zh-TW" altLang="en-US" sz="11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張影像，保留完整夜間辨識畫面</a:t>
            </a:r>
          </a:p>
          <a:p>
            <a:r>
              <a:rPr lang="zh-TW" altLang="en-US" sz="1100" dirty="0">
                <a:solidFill>
                  <a:srgbClr val="C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1100" dirty="0" err="1">
                <a:solidFill>
                  <a:srgbClr val="C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weight_g</a:t>
            </a:r>
            <a:r>
              <a:rPr lang="en-US" altLang="zh-TW" sz="1100" dirty="0">
                <a:solidFill>
                  <a:srgbClr val="C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: 180            </a:t>
            </a:r>
            <a:r>
              <a:rPr lang="en-US" altLang="zh-TW" sz="1100" dirty="0" smtClean="0">
                <a:solidFill>
                  <a:srgbClr val="C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11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# </a:t>
            </a:r>
            <a:r>
              <a:rPr lang="zh-TW" altLang="en-US" sz="11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選用高階感測模組，重量較重</a:t>
            </a:r>
          </a:p>
          <a:p>
            <a:endParaRPr lang="zh-TW" altLang="en-US" sz="1100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en-US" altLang="zh-TW" sz="1100" dirty="0">
                <a:solidFill>
                  <a:srgbClr val="C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structure:</a:t>
            </a:r>
          </a:p>
          <a:p>
            <a:r>
              <a:rPr lang="en-US" altLang="zh-TW" sz="11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1100" dirty="0" err="1">
                <a:solidFill>
                  <a:srgbClr val="C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mount_position</a:t>
            </a:r>
            <a:r>
              <a:rPr lang="en-US" altLang="zh-TW" sz="1100" dirty="0">
                <a:solidFill>
                  <a:srgbClr val="C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: </a:t>
            </a:r>
            <a:r>
              <a:rPr lang="en-US" altLang="zh-TW" sz="1100" dirty="0" err="1">
                <a:solidFill>
                  <a:srgbClr val="92D05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rear_default</a:t>
            </a:r>
            <a:r>
              <a:rPr lang="en-US" altLang="zh-TW" sz="1100" dirty="0">
                <a:solidFill>
                  <a:srgbClr val="92D05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   </a:t>
            </a:r>
            <a:r>
              <a:rPr lang="en-US" altLang="zh-TW" sz="11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# </a:t>
            </a:r>
            <a:r>
              <a:rPr lang="zh-TW" altLang="en-US" sz="11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初始配置將感測模組掛於機體後段（尾部）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8329BF8-E508-7D7D-593B-1C91F7572C47}"/>
              </a:ext>
            </a:extLst>
          </p:cNvPr>
          <p:cNvSpPr txBox="1"/>
          <p:nvPr/>
        </p:nvSpPr>
        <p:spPr>
          <a:xfrm>
            <a:off x="1621129" y="5905763"/>
            <a:ext cx="63862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en-US" sz="1200" i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📌 模擬結果指出：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1200" i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機體重心偏後達 </a:t>
            </a:r>
            <a:r>
              <a:rPr lang="en-US" altLang="zh-TW" sz="1200" i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12%</a:t>
            </a:r>
            <a:r>
              <a:rPr lang="zh-TW" altLang="en-US" sz="1200" i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（需調整）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1200" i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傳輸延遲達 </a:t>
            </a:r>
            <a:r>
              <a:rPr lang="en-US" altLang="zh-TW" sz="1200" i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180ms</a:t>
            </a:r>
            <a:r>
              <a:rPr lang="zh-TW" altLang="en-US" sz="1200" i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（建議壓縮或降頻）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1200" i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電池區域溫度過高（需調整散熱或配置）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BE8DEF1-AAE2-D74F-6AAF-F6F5DD05388B}"/>
              </a:ext>
            </a:extLst>
          </p:cNvPr>
          <p:cNvSpPr txBox="1"/>
          <p:nvPr/>
        </p:nvSpPr>
        <p:spPr>
          <a:xfrm>
            <a:off x="-2707983" y="-3540683"/>
            <a:ext cx="5800724" cy="178510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zh-TW" sz="1100" dirty="0">
                <a:solidFill>
                  <a:srgbClr val="C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battery:</a:t>
            </a:r>
          </a:p>
          <a:p>
            <a:r>
              <a:rPr lang="en-US" altLang="zh-TW" sz="1100" dirty="0">
                <a:solidFill>
                  <a:srgbClr val="C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1100" dirty="0" err="1">
                <a:solidFill>
                  <a:srgbClr val="C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cell_count</a:t>
            </a:r>
            <a:r>
              <a:rPr lang="en-US" altLang="zh-TW" sz="1100" dirty="0">
                <a:solidFill>
                  <a:srgbClr val="C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: 4                    </a:t>
            </a:r>
            <a:r>
              <a:rPr lang="en-US" altLang="zh-TW" sz="11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# </a:t>
            </a:r>
            <a:r>
              <a:rPr lang="zh-TW" altLang="en-US" sz="11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維持原本 </a:t>
            </a:r>
            <a:r>
              <a:rPr lang="en-US" altLang="zh-TW" sz="11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4S </a:t>
            </a:r>
            <a:r>
              <a:rPr lang="zh-TW" altLang="en-US" sz="11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電壓規格</a:t>
            </a:r>
          </a:p>
          <a:p>
            <a:r>
              <a:rPr lang="zh-TW" altLang="en-US" sz="1100" dirty="0">
                <a:solidFill>
                  <a:srgbClr val="C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1100" dirty="0" err="1">
                <a:solidFill>
                  <a:srgbClr val="C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capacity_mAh</a:t>
            </a:r>
            <a:r>
              <a:rPr lang="en-US" altLang="zh-TW" sz="1100" dirty="0">
                <a:solidFill>
                  <a:srgbClr val="C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: 5200       </a:t>
            </a:r>
            <a:r>
              <a:rPr lang="en-US" altLang="zh-TW" sz="1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# </a:t>
            </a:r>
            <a:r>
              <a:rPr lang="zh-TW" altLang="en-US" sz="11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電池規格不變，由其他模組調整解決效能問題</a:t>
            </a:r>
          </a:p>
          <a:p>
            <a:endParaRPr lang="zh-TW" altLang="en-US" sz="1100" dirty="0">
              <a:solidFill>
                <a:srgbClr val="C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en-US" altLang="zh-TW" sz="1100" dirty="0">
                <a:solidFill>
                  <a:srgbClr val="C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camera:</a:t>
            </a:r>
          </a:p>
          <a:p>
            <a:r>
              <a:rPr lang="en-US" altLang="zh-TW" sz="1100" dirty="0">
                <a:solidFill>
                  <a:srgbClr val="C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 fps: 30                         </a:t>
            </a:r>
            <a:r>
              <a:rPr lang="en-US" altLang="zh-TW" sz="11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# </a:t>
            </a:r>
            <a:r>
              <a:rPr lang="zh-TW" altLang="en-US" sz="11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降低幀率至 </a:t>
            </a:r>
            <a:r>
              <a:rPr lang="en-US" altLang="zh-TW" sz="11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30fps</a:t>
            </a:r>
            <a:r>
              <a:rPr lang="zh-TW" altLang="en-US" sz="11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，以改善資料傳輸延遲</a:t>
            </a:r>
          </a:p>
          <a:p>
            <a:r>
              <a:rPr lang="zh-TW" altLang="en-US" sz="1100" dirty="0">
                <a:solidFill>
                  <a:srgbClr val="C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1100" dirty="0" err="1">
                <a:solidFill>
                  <a:srgbClr val="C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weight_g</a:t>
            </a:r>
            <a:r>
              <a:rPr lang="en-US" altLang="zh-TW" sz="1100" dirty="0">
                <a:solidFill>
                  <a:srgbClr val="C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: 120             </a:t>
            </a:r>
            <a:r>
              <a:rPr lang="en-US" altLang="zh-TW" sz="1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# </a:t>
            </a:r>
            <a:r>
              <a:rPr lang="zh-TW" altLang="en-US" sz="11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改用輕量化版本感測模組，降低掛載負擔</a:t>
            </a:r>
          </a:p>
          <a:p>
            <a:endParaRPr lang="zh-TW" altLang="en-US" sz="1100" dirty="0">
              <a:solidFill>
                <a:srgbClr val="C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en-US" altLang="zh-TW" sz="1100" dirty="0">
                <a:solidFill>
                  <a:srgbClr val="C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structure:</a:t>
            </a:r>
          </a:p>
          <a:p>
            <a:r>
              <a:rPr lang="en-US" altLang="zh-TW" sz="1100" dirty="0">
                <a:solidFill>
                  <a:srgbClr val="C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1100" dirty="0" err="1">
                <a:solidFill>
                  <a:srgbClr val="C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mount_position</a:t>
            </a:r>
            <a:r>
              <a:rPr lang="en-US" altLang="zh-TW" sz="1100" dirty="0">
                <a:solidFill>
                  <a:srgbClr val="C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: </a:t>
            </a:r>
            <a:r>
              <a:rPr lang="en-US" altLang="zh-TW" sz="1100" dirty="0">
                <a:solidFill>
                  <a:srgbClr val="92D05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front_20mm_offset  </a:t>
            </a:r>
            <a:r>
              <a:rPr lang="en-US" altLang="zh-TW" sz="11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# </a:t>
            </a:r>
            <a:r>
              <a:rPr lang="zh-TW" altLang="en-US" sz="11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將感測模組向前調整 </a:t>
            </a:r>
            <a:r>
              <a:rPr lang="en-US" altLang="zh-TW" sz="11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20mm</a:t>
            </a:r>
            <a:r>
              <a:rPr lang="zh-TW" altLang="en-US" sz="11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，改善重心配置與結構強度</a:t>
            </a:r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6B3D0CCA-6325-DDEB-BE8F-D8E871A2B164}"/>
              </a:ext>
            </a:extLst>
          </p:cNvPr>
          <p:cNvSpPr/>
          <p:nvPr/>
        </p:nvSpPr>
        <p:spPr>
          <a:xfrm>
            <a:off x="-4103743" y="-3119019"/>
            <a:ext cx="1509486" cy="9724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02970204-DC4A-C406-C612-E85DD1F1B725}"/>
              </a:ext>
            </a:extLst>
          </p:cNvPr>
          <p:cNvSpPr txBox="1"/>
          <p:nvPr/>
        </p:nvSpPr>
        <p:spPr>
          <a:xfrm>
            <a:off x="2109154" y="4737966"/>
            <a:ext cx="7982523" cy="107721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en-US" sz="16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🔁 </a:t>
            </a:r>
            <a:r>
              <a:rPr lang="en-US" altLang="zh-TW" sz="16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LOOP </a:t>
            </a:r>
            <a:r>
              <a:rPr lang="zh-TW" altLang="en-US" sz="16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控制說明（展示設定範例）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16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可展示兩輪 </a:t>
            </a:r>
            <a:r>
              <a:rPr lang="en-US" altLang="zh-TW" sz="16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Step 3 ⇄ Step 4 </a:t>
            </a:r>
            <a:r>
              <a:rPr lang="zh-TW" altLang="en-US" sz="16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循環</a:t>
            </a:r>
            <a:endParaRPr lang="zh-TW" altLang="en-US" sz="16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第二輪模擬結果明顯改善（例如重心偏移減少至 </a:t>
            </a:r>
            <a:r>
              <a:rPr lang="en-US" altLang="zh-TW" sz="16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4%</a:t>
            </a:r>
            <a:r>
              <a:rPr lang="zh-TW" altLang="en-US" sz="16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，延遲控制在 </a:t>
            </a:r>
            <a:r>
              <a:rPr lang="en-US" altLang="zh-TW" sz="16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90ms</a:t>
            </a:r>
            <a:r>
              <a:rPr lang="zh-TW" altLang="en-US" sz="16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系統自動判定達成「可接受設計目標」門檻，進入 </a:t>
            </a:r>
            <a:r>
              <a:rPr lang="en-US" altLang="zh-TW" sz="16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Step 5</a:t>
            </a:r>
          </a:p>
        </p:txBody>
      </p:sp>
      <p:sp>
        <p:nvSpPr>
          <p:cNvPr id="2" name="矩形 1"/>
          <p:cNvSpPr/>
          <p:nvPr/>
        </p:nvSpPr>
        <p:spPr>
          <a:xfrm>
            <a:off x="38100" y="96096"/>
            <a:ext cx="5327099" cy="461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TW" sz="24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Step 3</a:t>
            </a:r>
            <a:r>
              <a:rPr lang="zh-TW" altLang="en-US" sz="24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｜平台執行模擬 </a:t>
            </a:r>
            <a:r>
              <a:rPr lang="en-US" altLang="zh-TW" sz="24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+ </a:t>
            </a:r>
            <a:r>
              <a:rPr lang="zh-TW" altLang="en-US" sz="24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自動回饋建議</a:t>
            </a:r>
          </a:p>
        </p:txBody>
      </p:sp>
      <p:sp>
        <p:nvSpPr>
          <p:cNvPr id="3" name="矩形 2"/>
          <p:cNvSpPr/>
          <p:nvPr/>
        </p:nvSpPr>
        <p:spPr>
          <a:xfrm>
            <a:off x="5541671" y="108428"/>
            <a:ext cx="6426344" cy="461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 sz="2400" b="1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Step </a:t>
            </a:r>
            <a:r>
              <a:rPr lang="en-US" altLang="zh-TW" sz="24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4</a:t>
            </a:r>
            <a:r>
              <a:rPr lang="zh-TW" altLang="en-US" sz="24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｜跨模組協作與任務分派（</a:t>
            </a:r>
            <a:r>
              <a:rPr lang="en-US" altLang="zh-TW" sz="24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+</a:t>
            </a:r>
            <a:r>
              <a:rPr lang="zh-TW" altLang="en-US" sz="24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工程師回饋）</a:t>
            </a: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1986" y="5793842"/>
            <a:ext cx="7187905" cy="107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847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83BE7-277C-3468-DB7A-2F1B4DE1A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11">
            <a:extLst>
              <a:ext uri="{FF2B5EF4-FFF2-40B4-BE49-F238E27FC236}">
                <a16:creationId xmlns:a16="http://schemas.microsoft.com/office/drawing/2014/main" id="{E65BFF08-E7A1-8BE7-AAC7-6F4A657EA88B}"/>
              </a:ext>
            </a:extLst>
          </p:cNvPr>
          <p:cNvSpPr/>
          <p:nvPr/>
        </p:nvSpPr>
        <p:spPr>
          <a:xfrm>
            <a:off x="228600" y="520700"/>
            <a:ext cx="6934200" cy="600710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 smtClean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模擬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與協作流程完成後，系統將產出具實務交付水準的報告與技術資料包，雖為原型，仍比照實際產線規格</a:t>
            </a:r>
            <a:r>
              <a:rPr lang="zh-TW" altLang="en-US" dirty="0" smtClean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設計：</a:t>
            </a:r>
          </a:p>
          <a:p>
            <a:r>
              <a:rPr lang="zh-TW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一、成果報告（</a:t>
            </a:r>
            <a:r>
              <a:rPr lang="en-US" altLang="zh-TW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PDF </a:t>
            </a:r>
            <a:r>
              <a:rPr lang="zh-TW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格式）</a:t>
            </a:r>
          </a:p>
          <a:p>
            <a:pPr marL="361950" indent="261938"/>
            <a:r>
              <a:rPr lang="zh-TW" altLang="en-US" sz="16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內容</a:t>
            </a:r>
            <a:r>
              <a:rPr lang="zh-TW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包含：</a:t>
            </a:r>
          </a:p>
          <a:p>
            <a:pPr marL="723900"/>
            <a:r>
              <a:rPr lang="zh-TW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任務摘要與設計目標</a:t>
            </a:r>
          </a:p>
          <a:p>
            <a:pPr marL="723900"/>
            <a:r>
              <a:rPr lang="zh-TW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模組配置與修改歷程</a:t>
            </a:r>
          </a:p>
          <a:p>
            <a:pPr marL="723900"/>
            <a:r>
              <a:rPr lang="zh-TW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模擬結果紀錄（含每輪參數與摘要）</a:t>
            </a:r>
          </a:p>
          <a:p>
            <a:pPr marL="723900"/>
            <a:r>
              <a:rPr lang="zh-TW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跨模組協作與分工建議紀錄</a:t>
            </a:r>
          </a:p>
          <a:p>
            <a:pPr marL="723900"/>
            <a:r>
              <a:rPr lang="zh-TW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設計修正與最終參數統整</a:t>
            </a:r>
          </a:p>
          <a:p>
            <a:pPr marL="2154238" indent="-1433513"/>
            <a:r>
              <a:rPr lang="zh-TW" altLang="en-US" sz="16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知識</a:t>
            </a:r>
            <a:r>
              <a:rPr lang="zh-TW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引用說明：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凡來自知識庫查詢的建議，皆標註出處與資料版本（如：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TAIDE_KB_Module_IR_2023.12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）</a:t>
            </a:r>
          </a:p>
          <a:p>
            <a:r>
              <a:rPr lang="zh-TW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二</a:t>
            </a:r>
            <a:r>
              <a:rPr lang="zh-TW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、技術資料包</a:t>
            </a:r>
          </a:p>
          <a:p>
            <a:pPr indent="623888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元件清單（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BOM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）與建議替代方案</a:t>
            </a:r>
          </a:p>
          <a:p>
            <a:pPr indent="623888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設計構型草圖（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CAD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格式）</a:t>
            </a:r>
          </a:p>
          <a:p>
            <a:pPr indent="623888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模擬輸出圖與參數表</a:t>
            </a:r>
          </a:p>
          <a:p>
            <a:pPr indent="623888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參數設定檔（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YAML/JSON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，含註解，首輪與修正版）</a:t>
            </a:r>
          </a:p>
          <a:p>
            <a:r>
              <a:rPr lang="zh-TW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三</a:t>
            </a:r>
            <a:r>
              <a:rPr lang="zh-TW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、決策與版本紀錄</a:t>
            </a:r>
          </a:p>
          <a:p>
            <a:pPr marL="623888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每次模擬與設計調整皆對應一組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ID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，記錄推論依據與回覆來源，形成完整設計追溯鏈（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Traceability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）。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536E98D-EF2D-0820-D6D5-812D415C76ED}"/>
              </a:ext>
            </a:extLst>
          </p:cNvPr>
          <p:cNvSpPr txBox="1"/>
          <p:nvPr/>
        </p:nvSpPr>
        <p:spPr>
          <a:xfrm>
            <a:off x="8061367" y="2231773"/>
            <a:ext cx="322723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i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✨ 即使為原型階段，也符合實務交付標準，具備可追蹤、可查核與可再現性，有助銜接下一階段整機模擬與實測。</a:t>
            </a:r>
          </a:p>
        </p:txBody>
      </p:sp>
      <p:sp>
        <p:nvSpPr>
          <p:cNvPr id="4" name="矩形 3"/>
          <p:cNvSpPr/>
          <p:nvPr/>
        </p:nvSpPr>
        <p:spPr>
          <a:xfrm>
            <a:off x="427016" y="520700"/>
            <a:ext cx="6537367" cy="461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TW" sz="24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Step 5</a:t>
            </a:r>
            <a:r>
              <a:rPr lang="zh-TW" altLang="en-US" sz="24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｜整合輸出與成果報告（符合交付格式）</a:t>
            </a:r>
          </a:p>
        </p:txBody>
      </p:sp>
    </p:spTree>
    <p:extLst>
      <p:ext uri="{BB962C8B-B14F-4D97-AF65-F5344CB8AC3E}">
        <p14:creationId xmlns:p14="http://schemas.microsoft.com/office/powerpoint/2010/main" val="2464661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2744</TotalTime>
  <Words>2155</Words>
  <Application>Microsoft Office PowerPoint</Application>
  <PresentationFormat>寬螢幕</PresentationFormat>
  <Paragraphs>228</Paragraphs>
  <Slides>5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2" baseType="lpstr">
      <vt:lpstr>微軟正黑體</vt:lpstr>
      <vt:lpstr>新細明體</vt:lpstr>
      <vt:lpstr>Arial</vt:lpstr>
      <vt:lpstr>Calibri</vt:lpstr>
      <vt:lpstr>Calibri Light</vt:lpstr>
      <vt:lpstr>Times New Roman</vt:lpstr>
      <vt:lpstr>Office 佈景主題</vt:lpstr>
      <vt:lpstr>0703線上討論會後提供老師參考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黃易辰</dc:creator>
  <cp:lastModifiedBy>張瑋真</cp:lastModifiedBy>
  <cp:revision>24</cp:revision>
  <dcterms:created xsi:type="dcterms:W3CDTF">2025-05-28T05:47:11Z</dcterms:created>
  <dcterms:modified xsi:type="dcterms:W3CDTF">2025-07-07T02:30:42Z</dcterms:modified>
</cp:coreProperties>
</file>