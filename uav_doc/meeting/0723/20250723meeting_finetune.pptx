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0"/>
  </p:notesMasterIdLst>
  <p:handoutMasterIdLst>
    <p:handoutMasterId r:id="rId11"/>
  </p:handoutMasterIdLst>
  <p:sldIdLst>
    <p:sldId id="259" r:id="rId2"/>
    <p:sldId id="260" r:id="rId3"/>
    <p:sldId id="258" r:id="rId4"/>
    <p:sldId id="266" r:id="rId5"/>
    <p:sldId id="264" r:id="rId6"/>
    <p:sldId id="263" r:id="rId7"/>
    <p:sldId id="261" r:id="rId8"/>
    <p:sldId id="262" r:id="rId9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82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FB4D5E6-6CAD-43A1-B664-7F3D8E372CB9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5226E2-B735-4508-A988-88E01057849B}" type="datetime1">
              <a:rPr lang="zh-TW" altLang="en-US" smtClean="0"/>
              <a:t>2025/7/23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9A0F2C-D61B-4F78-A598-3F89F6808591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520340" y="6000748"/>
            <a:ext cx="2743200" cy="365125"/>
          </a:xfrm>
        </p:spPr>
        <p:txBody>
          <a:bodyPr rtlCol="0"/>
          <a:lstStyle/>
          <a:p>
            <a:pPr rtl="0"/>
            <a:fld id="{10E378B1-F921-4DB6-A0B5-FBAB6D815817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142751" y="6028576"/>
            <a:ext cx="2743200" cy="365125"/>
          </a:xfrm>
        </p:spPr>
        <p:txBody>
          <a:bodyPr rtlCol="0"/>
          <a:lstStyle/>
          <a:p>
            <a:pPr rtl="0"/>
            <a:fld id="{71CF3BCF-43AF-44CE-8DED-A0A7E4AFE36C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0B6A-E6B6-44EB-92C6-B1EDD7A0CF53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圖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982518-B634-4B56-A479-88927FC85B72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5BBEA0-9E15-4B30-90D1-183370C5F62E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22B815-A77C-480F-A07E-33569587508E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0AA884-2339-4FDA-B838-711CBE37D2CE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圖片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194BED-1B93-40DC-B7C0-9A9596B3071C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全景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CD7CC2-5874-4136-B618-25EAC07F2E5F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F3F2D1-9D40-497F-84BA-DE8CE6BA4BEE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F5CCF7-2695-4131-AD00-E93CBB603F28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024A9C-A6DB-458D-B7DE-5140A276A908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8" name="文字預留位置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9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0" name="文字預留位置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11" name="文字預留位置 4"/>
          <p:cNvSpPr>
            <a:spLocks noGrp="1"/>
          </p:cNvSpPr>
          <p:nvPr>
            <p:ph type="body" sz="quarter" idx="13" hasCustomPrompt="1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E5272A-0B28-4E11-950A-313FC911A049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圖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圖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標題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文字版面配置區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0" name="圖片預留位置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文字預留位置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2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3" name="圖片預留位置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文字預留位置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5" name="文字預留位置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6" name="圖片預留位置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文字預留位置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ACF7D8-7292-4421-9561-61106B87073C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9803B5-326F-4B80-8A1B-8F2AA9FC8140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6E54B5-1D10-449A-852D-5291154807A6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tw"/>
              <a:t>按一下以編輯母片文字樣式</a:t>
            </a:r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fld id="{E27EBA36-4489-4ED5-9948-A27DCFE4D027}" type="datetime1">
              <a:rPr lang="zh-TW" altLang="en-US" smtClean="0"/>
              <a:t>2025/7/23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MingLiu" panose="02020509000000000000" pitchFamily="49" charset="-12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包含杯子、咖啡、食物、飲料的圖片&#10;&#10;自動產生的描述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rtlCol="0">
            <a:normAutofit/>
          </a:bodyPr>
          <a:lstStyle/>
          <a:p>
            <a:r>
              <a:rPr lang="en-US" altLang="zh-TW" sz="7200"/>
              <a:t>20250723</a:t>
            </a:r>
            <a:br>
              <a:rPr lang="en-US" altLang="zh-TW" sz="7200"/>
            </a:br>
            <a:r>
              <a:rPr lang="en-US" altLang="zh-TW" sz="7200"/>
              <a:t>Meeting</a:t>
            </a:r>
            <a:r>
              <a:rPr lang="zh-TW" altLang="en-US" sz="7200" dirty="0"/>
              <a:t>成果彙報</a:t>
            </a:r>
            <a:endParaRPr lang="zh-tw" sz="72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sz="2800" dirty="0"/>
              <a:t>王緯禎、洪綵柔</a:t>
            </a:r>
            <a:endParaRPr lang="zh-tw" sz="28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865F84-2588-4A11-8F4E-23C110A81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上週預期目標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E958DD-98B5-49A8-8395-B65C282A1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4100" indent="-457200">
              <a:buFont typeface="+mj-lt"/>
              <a:buAutoNum type="arabicPeriod"/>
            </a:pPr>
            <a:r>
              <a:rPr lang="zh-TW" altLang="en-US" sz="2800" dirty="0"/>
              <a:t>選擇</a:t>
            </a:r>
            <a:r>
              <a:rPr lang="en-US" altLang="zh-TW" sz="2800" dirty="0"/>
              <a:t>3~5</a:t>
            </a:r>
            <a:r>
              <a:rPr lang="zh-TW" altLang="en-US" sz="2800" dirty="0"/>
              <a:t>個適合模型</a:t>
            </a:r>
            <a:endParaRPr lang="en-US" altLang="zh-TW" sz="2800" dirty="0"/>
          </a:p>
          <a:p>
            <a:pPr marL="494100" indent="-457200">
              <a:buFont typeface="+mj-lt"/>
              <a:buAutoNum type="arabicPeriod"/>
            </a:pPr>
            <a:r>
              <a:rPr lang="zh-TW" altLang="en-US" sz="2800" dirty="0"/>
              <a:t>至少測試</a:t>
            </a:r>
            <a:r>
              <a:rPr lang="en-US" altLang="zh-TW" sz="2800" dirty="0"/>
              <a:t>3</a:t>
            </a:r>
            <a:r>
              <a:rPr lang="zh-TW" altLang="en-US" sz="2800" dirty="0"/>
              <a:t>個模型之運行</a:t>
            </a:r>
            <a:endParaRPr lang="en-US" altLang="zh-TW" sz="2800" dirty="0"/>
          </a:p>
          <a:p>
            <a:pPr marL="494100" indent="-457200">
              <a:buFont typeface="+mj-lt"/>
              <a:buAutoNum type="arabicPeriod"/>
            </a:pPr>
            <a:r>
              <a:rPr lang="zh-TW" altLang="en-US" sz="2800" dirty="0"/>
              <a:t>需在模型中測試投影片</a:t>
            </a:r>
            <a:r>
              <a:rPr lang="en-US" altLang="zh-TW" sz="2800" dirty="0"/>
              <a:t>-</a:t>
            </a:r>
            <a:r>
              <a:rPr lang="zh-TW" altLang="en-US" sz="2800" dirty="0"/>
              <a:t>需求與開發方向建議之內容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F8F7FA-7D69-4F77-9030-54842748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/>
              <a:t>2025/7/23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68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rtlCol="0">
            <a:normAutofit/>
          </a:bodyPr>
          <a:lstStyle/>
          <a:p>
            <a:r>
              <a:rPr lang="zh-TW" altLang="en-US" dirty="0"/>
              <a:t>適合模型</a:t>
            </a:r>
            <a:endParaRPr lang="zh-tw" dirty="0"/>
          </a:p>
        </p:txBody>
      </p:sp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2051D94B-3EDE-4C96-BCD0-3C675F7D2C1C}"/>
              </a:ext>
            </a:extLst>
          </p:cNvPr>
          <p:cNvSpPr/>
          <p:nvPr/>
        </p:nvSpPr>
        <p:spPr>
          <a:xfrm>
            <a:off x="914400" y="2076450"/>
            <a:ext cx="3275967" cy="3714750"/>
          </a:xfrm>
          <a:custGeom>
            <a:avLst/>
            <a:gdLst>
              <a:gd name="connsiteX0" fmla="*/ 0 w 3275967"/>
              <a:gd name="connsiteY0" fmla="*/ 0 h 3714750"/>
              <a:gd name="connsiteX1" fmla="*/ 3275967 w 3275967"/>
              <a:gd name="connsiteY1" fmla="*/ 0 h 3714750"/>
              <a:gd name="connsiteX2" fmla="*/ 3275967 w 3275967"/>
              <a:gd name="connsiteY2" fmla="*/ 3714750 h 3714750"/>
              <a:gd name="connsiteX3" fmla="*/ 0 w 3275967"/>
              <a:gd name="connsiteY3" fmla="*/ 3714750 h 3714750"/>
              <a:gd name="connsiteX4" fmla="*/ 0 w 3275967"/>
              <a:gd name="connsiteY4" fmla="*/ 0 h 371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5967" h="3714750">
                <a:moveTo>
                  <a:pt x="0" y="0"/>
                </a:moveTo>
                <a:lnTo>
                  <a:pt x="3275967" y="0"/>
                </a:lnTo>
                <a:lnTo>
                  <a:pt x="3275967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593" tIns="1485900" rIns="323593" bIns="330200" numCol="1" spcCol="1270" rtlCol="0" anchor="t" anchorCtr="0">
            <a:noAutofit/>
          </a:bodyPr>
          <a:lstStyle/>
          <a:p>
            <a:pPr marL="0" lvl="0" indent="0" algn="l" defTabSz="1155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en-US" sz="2600" b="0" i="0" u="none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zh-TW" altLang="en-US" sz="2600" b="0" i="0" u="none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b="0" i="0" u="none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70b</a:t>
            </a:r>
            <a:endParaRPr lang="zh-tw" sz="2600" u="none" kern="1200" dirty="0">
              <a:solidFill>
                <a:schemeClr val="tx1"/>
              </a:solidFill>
              <a:latin typeface="Times New Roman" panose="02020603050405020304" pitchFamily="18" charset="0"/>
              <a:ea typeface="MingLiu" panose="02020509000000000000" pitchFamily="49" charset="-120"/>
              <a:cs typeface="Times New Roman" panose="02020603050405020304" pitchFamily="18" charset="0"/>
            </a:endParaRPr>
          </a:p>
        </p:txBody>
      </p:sp>
      <p:sp>
        <p:nvSpPr>
          <p:cNvPr id="6" name="手繪多邊形: 圖案 5">
            <a:extLst>
              <a:ext uri="{FF2B5EF4-FFF2-40B4-BE49-F238E27FC236}">
                <a16:creationId xmlns:a16="http://schemas.microsoft.com/office/drawing/2014/main" id="{8B04777E-2004-48FB-9E5C-7C07B8B6A6BE}"/>
              </a:ext>
            </a:extLst>
          </p:cNvPr>
          <p:cNvSpPr/>
          <p:nvPr/>
        </p:nvSpPr>
        <p:spPr>
          <a:xfrm>
            <a:off x="915208" y="2076450"/>
            <a:ext cx="3275967" cy="1485900"/>
          </a:xfrm>
          <a:custGeom>
            <a:avLst/>
            <a:gdLst>
              <a:gd name="connsiteX0" fmla="*/ 0 w 3275967"/>
              <a:gd name="connsiteY0" fmla="*/ 0 h 1485900"/>
              <a:gd name="connsiteX1" fmla="*/ 3275967 w 3275967"/>
              <a:gd name="connsiteY1" fmla="*/ 0 h 1485900"/>
              <a:gd name="connsiteX2" fmla="*/ 3275967 w 3275967"/>
              <a:gd name="connsiteY2" fmla="*/ 1485900 h 1485900"/>
              <a:gd name="connsiteX3" fmla="*/ 0 w 3275967"/>
              <a:gd name="connsiteY3" fmla="*/ 1485900 h 1485900"/>
              <a:gd name="connsiteX4" fmla="*/ 0 w 3275967"/>
              <a:gd name="connsiteY4" fmla="*/ 0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5967" h="1485900">
                <a:moveTo>
                  <a:pt x="0" y="0"/>
                </a:moveTo>
                <a:lnTo>
                  <a:pt x="3275967" y="0"/>
                </a:lnTo>
                <a:lnTo>
                  <a:pt x="3275967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593" tIns="165100" rIns="323593" bIns="165100" numCol="1" spcCol="1270" rtlCol="0" anchor="ctr" anchorCtr="0">
            <a:noAutofit/>
          </a:bodyPr>
          <a:lstStyle/>
          <a:p>
            <a:pPr marL="0" lvl="0" indent="0" algn="l" defTabSz="2933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tw" sz="6600" kern="1200">
                <a:latin typeface="MingLiu" panose="02020509000000000000" pitchFamily="49" charset="-120"/>
                <a:ea typeface="MingLiu" panose="02020509000000000000" pitchFamily="49" charset="-120"/>
              </a:rPr>
              <a:t>01</a:t>
            </a: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1B4441CC-B461-4CF7-A4FB-BADF04BAA0C7}"/>
              </a:ext>
            </a:extLst>
          </p:cNvPr>
          <p:cNvSpPr/>
          <p:nvPr/>
        </p:nvSpPr>
        <p:spPr>
          <a:xfrm>
            <a:off x="4453253" y="2076450"/>
            <a:ext cx="3275967" cy="3714750"/>
          </a:xfrm>
          <a:custGeom>
            <a:avLst/>
            <a:gdLst>
              <a:gd name="connsiteX0" fmla="*/ 0 w 3275967"/>
              <a:gd name="connsiteY0" fmla="*/ 0 h 3714750"/>
              <a:gd name="connsiteX1" fmla="*/ 3275967 w 3275967"/>
              <a:gd name="connsiteY1" fmla="*/ 0 h 3714750"/>
              <a:gd name="connsiteX2" fmla="*/ 3275967 w 3275967"/>
              <a:gd name="connsiteY2" fmla="*/ 3714750 h 3714750"/>
              <a:gd name="connsiteX3" fmla="*/ 0 w 3275967"/>
              <a:gd name="connsiteY3" fmla="*/ 3714750 h 3714750"/>
              <a:gd name="connsiteX4" fmla="*/ 0 w 3275967"/>
              <a:gd name="connsiteY4" fmla="*/ 0 h 371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5967" h="3714750">
                <a:moveTo>
                  <a:pt x="0" y="0"/>
                </a:moveTo>
                <a:lnTo>
                  <a:pt x="3275967" y="0"/>
                </a:lnTo>
                <a:lnTo>
                  <a:pt x="3275967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593" tIns="1485900" rIns="323593" bIns="330200" numCol="1" spcCol="1270" rtlCol="0" anchor="t" anchorCtr="0">
            <a:noAutofit/>
          </a:bodyPr>
          <a:lstStyle/>
          <a:p>
            <a:pPr marL="0" lvl="0" indent="0" algn="l" defTabSz="1155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en-US" sz="2600" b="0" i="0" u="none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zh-TW" altLang="en-US" sz="2600" b="0" i="0" u="none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b="0" i="0" u="none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scout</a:t>
            </a:r>
            <a:endParaRPr lang="zh-tw" sz="2600" kern="1200" dirty="0">
              <a:latin typeface="Times New Roman" panose="02020603050405020304" pitchFamily="18" charset="0"/>
              <a:ea typeface="MingLiu" panose="02020509000000000000" pitchFamily="49" charset="-120"/>
              <a:cs typeface="Times New Roman" panose="02020603050405020304" pitchFamily="18" charset="0"/>
            </a:endParaRPr>
          </a:p>
        </p:txBody>
      </p:sp>
      <p:sp>
        <p:nvSpPr>
          <p:cNvPr id="8" name="手繪多邊形: 圖案 7">
            <a:extLst>
              <a:ext uri="{FF2B5EF4-FFF2-40B4-BE49-F238E27FC236}">
                <a16:creationId xmlns:a16="http://schemas.microsoft.com/office/drawing/2014/main" id="{936E22F9-6B8A-4B37-8B82-B2CF519E83D3}"/>
              </a:ext>
            </a:extLst>
          </p:cNvPr>
          <p:cNvSpPr/>
          <p:nvPr/>
        </p:nvSpPr>
        <p:spPr>
          <a:xfrm>
            <a:off x="4453253" y="2076450"/>
            <a:ext cx="3275967" cy="1485900"/>
          </a:xfrm>
          <a:custGeom>
            <a:avLst/>
            <a:gdLst>
              <a:gd name="connsiteX0" fmla="*/ 0 w 3275967"/>
              <a:gd name="connsiteY0" fmla="*/ 0 h 1485900"/>
              <a:gd name="connsiteX1" fmla="*/ 3275967 w 3275967"/>
              <a:gd name="connsiteY1" fmla="*/ 0 h 1485900"/>
              <a:gd name="connsiteX2" fmla="*/ 3275967 w 3275967"/>
              <a:gd name="connsiteY2" fmla="*/ 1485900 h 1485900"/>
              <a:gd name="connsiteX3" fmla="*/ 0 w 3275967"/>
              <a:gd name="connsiteY3" fmla="*/ 1485900 h 1485900"/>
              <a:gd name="connsiteX4" fmla="*/ 0 w 3275967"/>
              <a:gd name="connsiteY4" fmla="*/ 0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5967" h="1485900">
                <a:moveTo>
                  <a:pt x="0" y="0"/>
                </a:moveTo>
                <a:lnTo>
                  <a:pt x="3275967" y="0"/>
                </a:lnTo>
                <a:lnTo>
                  <a:pt x="3275967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593" tIns="165100" rIns="323593" bIns="165100" numCol="1" spcCol="1270" rtlCol="0" anchor="ctr" anchorCtr="0">
            <a:noAutofit/>
          </a:bodyPr>
          <a:lstStyle/>
          <a:p>
            <a:pPr marL="0" lvl="0" indent="0" algn="l" defTabSz="2933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tw" sz="6600" kern="1200">
                <a:latin typeface="MingLiu" panose="02020509000000000000" pitchFamily="49" charset="-120"/>
                <a:ea typeface="MingLiu" panose="02020509000000000000" pitchFamily="49" charset="-120"/>
              </a:rPr>
              <a:t>02</a:t>
            </a:r>
          </a:p>
        </p:txBody>
      </p:sp>
      <p:sp>
        <p:nvSpPr>
          <p:cNvPr id="9" name="手繪多邊形: 圖案 8">
            <a:extLst>
              <a:ext uri="{FF2B5EF4-FFF2-40B4-BE49-F238E27FC236}">
                <a16:creationId xmlns:a16="http://schemas.microsoft.com/office/drawing/2014/main" id="{2BB5318A-6164-4C18-A2AC-C91E68BD5566}"/>
              </a:ext>
            </a:extLst>
          </p:cNvPr>
          <p:cNvSpPr/>
          <p:nvPr/>
        </p:nvSpPr>
        <p:spPr>
          <a:xfrm>
            <a:off x="7991298" y="2076450"/>
            <a:ext cx="3275967" cy="3714750"/>
          </a:xfrm>
          <a:custGeom>
            <a:avLst/>
            <a:gdLst>
              <a:gd name="connsiteX0" fmla="*/ 0 w 3275967"/>
              <a:gd name="connsiteY0" fmla="*/ 0 h 3714750"/>
              <a:gd name="connsiteX1" fmla="*/ 3275967 w 3275967"/>
              <a:gd name="connsiteY1" fmla="*/ 0 h 3714750"/>
              <a:gd name="connsiteX2" fmla="*/ 3275967 w 3275967"/>
              <a:gd name="connsiteY2" fmla="*/ 3714750 h 3714750"/>
              <a:gd name="connsiteX3" fmla="*/ 0 w 3275967"/>
              <a:gd name="connsiteY3" fmla="*/ 3714750 h 3714750"/>
              <a:gd name="connsiteX4" fmla="*/ 0 w 3275967"/>
              <a:gd name="connsiteY4" fmla="*/ 0 h 371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5967" h="3714750">
                <a:moveTo>
                  <a:pt x="0" y="0"/>
                </a:moveTo>
                <a:lnTo>
                  <a:pt x="3275967" y="0"/>
                </a:lnTo>
                <a:lnTo>
                  <a:pt x="3275967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593" tIns="1485900" rIns="323593" bIns="330200" numCol="1" spcCol="1270" rtlCol="0" anchor="t" anchorCtr="0">
            <a:noAutofit/>
          </a:bodyPr>
          <a:lstStyle/>
          <a:p>
            <a:pPr marL="0" lvl="0" indent="0" algn="l" defTabSz="1155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en-US" altLang="zh-TW" sz="2600" kern="1200" dirty="0">
                <a:latin typeface="Times New Roman" panose="02020603050405020304" pitchFamily="18" charset="0"/>
                <a:ea typeface="MingLiu" panose="02020509000000000000" pitchFamily="49" charset="-120"/>
                <a:cs typeface="Times New Roman" panose="02020603050405020304" pitchFamily="18" charset="0"/>
              </a:rPr>
              <a:t>Mistral 7b</a:t>
            </a:r>
            <a:endParaRPr lang="zh-tw" sz="2600" kern="1200" dirty="0">
              <a:latin typeface="Times New Roman" panose="02020603050405020304" pitchFamily="18" charset="0"/>
              <a:ea typeface="MingLiu" panose="02020509000000000000" pitchFamily="49" charset="-120"/>
              <a:cs typeface="Times New Roman" panose="02020603050405020304" pitchFamily="18" charset="0"/>
            </a:endParaRPr>
          </a:p>
        </p:txBody>
      </p:sp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F766BC7C-EC74-4DAA-B04A-F6BA389EB64F}"/>
              </a:ext>
            </a:extLst>
          </p:cNvPr>
          <p:cNvSpPr/>
          <p:nvPr/>
        </p:nvSpPr>
        <p:spPr>
          <a:xfrm>
            <a:off x="7991298" y="2076450"/>
            <a:ext cx="3275967" cy="1485900"/>
          </a:xfrm>
          <a:custGeom>
            <a:avLst/>
            <a:gdLst>
              <a:gd name="connsiteX0" fmla="*/ 0 w 3275967"/>
              <a:gd name="connsiteY0" fmla="*/ 0 h 1485900"/>
              <a:gd name="connsiteX1" fmla="*/ 3275967 w 3275967"/>
              <a:gd name="connsiteY1" fmla="*/ 0 h 1485900"/>
              <a:gd name="connsiteX2" fmla="*/ 3275967 w 3275967"/>
              <a:gd name="connsiteY2" fmla="*/ 1485900 h 1485900"/>
              <a:gd name="connsiteX3" fmla="*/ 0 w 3275967"/>
              <a:gd name="connsiteY3" fmla="*/ 1485900 h 1485900"/>
              <a:gd name="connsiteX4" fmla="*/ 0 w 3275967"/>
              <a:gd name="connsiteY4" fmla="*/ 0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5967" h="1485900">
                <a:moveTo>
                  <a:pt x="0" y="0"/>
                </a:moveTo>
                <a:lnTo>
                  <a:pt x="3275967" y="0"/>
                </a:lnTo>
                <a:lnTo>
                  <a:pt x="3275967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593" tIns="165100" rIns="323593" bIns="165100" numCol="1" spcCol="1270" rtlCol="0" anchor="ctr" anchorCtr="0">
            <a:noAutofit/>
          </a:bodyPr>
          <a:lstStyle/>
          <a:p>
            <a:pPr marL="0" lvl="0" indent="0" algn="l" defTabSz="2933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tw" sz="6600" kern="1200">
                <a:latin typeface="MingLiu" panose="02020509000000000000" pitchFamily="49" charset="-120"/>
                <a:ea typeface="MingLiu" panose="02020509000000000000" pitchFamily="49" charset="-12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98E4D-6F32-43F3-A03D-6B0A534BF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待解決問題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C45048-FB48-47E6-80C9-DB5A0FCE8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683" y="3305174"/>
            <a:ext cx="3359373" cy="1257301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altLang="zh-TW" sz="2800" b="0" i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text-generation-</a:t>
            </a:r>
            <a:r>
              <a:rPr lang="en-US" altLang="zh-TW" sz="2800" b="0" i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webui</a:t>
            </a:r>
            <a:endParaRPr lang="en-US" altLang="zh-TW" sz="2800" b="0" i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6900" indent="0" algn="ctr">
              <a:buNone/>
            </a:pPr>
            <a:r>
              <a:rPr lang="zh-TW" altLang="en-US" sz="2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無法載入模型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BEF25A-CB7F-4096-92D7-D8AAA2FC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2025/7/23</a:t>
            </a:fld>
            <a:endParaRPr 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4E537BE0-686D-4AD9-B69F-A06B6238782F}"/>
              </a:ext>
            </a:extLst>
          </p:cNvPr>
          <p:cNvGrpSpPr/>
          <p:nvPr/>
        </p:nvGrpSpPr>
        <p:grpSpPr>
          <a:xfrm>
            <a:off x="1590451" y="2208766"/>
            <a:ext cx="3611882" cy="3450117"/>
            <a:chOff x="913795" y="2264883"/>
            <a:chExt cx="3166093" cy="2868931"/>
          </a:xfrm>
        </p:grpSpPr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D1962F02-D924-4706-A703-C67FB83CCA9D}"/>
                </a:ext>
              </a:extLst>
            </p:cNvPr>
            <p:cNvSpPr txBox="1"/>
            <p:nvPr/>
          </p:nvSpPr>
          <p:spPr>
            <a:xfrm>
              <a:off x="913795" y="2264883"/>
              <a:ext cx="3153681" cy="286893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dirty="0"/>
            </a:p>
          </p:txBody>
        </p:sp>
        <p:sp>
          <p:nvSpPr>
            <p:cNvPr id="5" name="內容版面配置區 2">
              <a:extLst>
                <a:ext uri="{FF2B5EF4-FFF2-40B4-BE49-F238E27FC236}">
                  <a16:creationId xmlns:a16="http://schemas.microsoft.com/office/drawing/2014/main" id="{E9C2B368-A72E-497B-915B-04F35C6B4E9E}"/>
                </a:ext>
              </a:extLst>
            </p:cNvPr>
            <p:cNvSpPr txBox="1">
              <a:spLocks/>
            </p:cNvSpPr>
            <p:nvPr/>
          </p:nvSpPr>
          <p:spPr>
            <a:xfrm>
              <a:off x="913795" y="2825525"/>
              <a:ext cx="3166093" cy="59664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342900" indent="-306000" algn="l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"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MingLiu" panose="02020509000000000000" pitchFamily="49" charset="-120"/>
                  <a:ea typeface="MingLiu" panose="02020509000000000000" pitchFamily="49" charset="-120"/>
                  <a:cs typeface="+mn-cs"/>
                </a:defRPr>
              </a:lvl1pPr>
              <a:lvl2pPr marL="72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"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MingLiu" panose="02020509000000000000" pitchFamily="49" charset="-120"/>
                  <a:ea typeface="MingLiu" panose="02020509000000000000" pitchFamily="49" charset="-120"/>
                  <a:cs typeface="+mn-cs"/>
                </a:defRPr>
              </a:lvl2pPr>
              <a:lvl3pPr marL="1026000" indent="-21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"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MingLiu" panose="02020509000000000000" pitchFamily="49" charset="-120"/>
                  <a:ea typeface="MingLiu" panose="02020509000000000000" pitchFamily="49" charset="-120"/>
                  <a:cs typeface="+mn-cs"/>
                </a:defRPr>
              </a:lvl3pPr>
              <a:lvl4pPr marL="1386000" indent="-21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"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MingLiu" panose="02020509000000000000" pitchFamily="49" charset="-120"/>
                  <a:ea typeface="MingLiu" panose="02020509000000000000" pitchFamily="49" charset="-120"/>
                  <a:cs typeface="+mn-cs"/>
                </a:defRPr>
              </a:lvl4pPr>
              <a:lvl5pPr marL="1674000" indent="-21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"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MingLiu" panose="02020509000000000000" pitchFamily="49" charset="-120"/>
                  <a:ea typeface="MingLiu" panose="02020509000000000000" pitchFamily="49" charset="-120"/>
                  <a:cs typeface="+mn-cs"/>
                </a:defRPr>
              </a:lvl5pPr>
              <a:lvl6pPr marL="20146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"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4018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"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2789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"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1062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"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marL="36900" indent="0" algn="ctr">
                <a:buNone/>
              </a:pPr>
              <a:r>
                <a:rPr lang="zh-TW" altLang="en-US" sz="2800" dirty="0"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模型環境版本問題</a:t>
              </a:r>
            </a:p>
          </p:txBody>
        </p:sp>
        <p:sp>
          <p:nvSpPr>
            <p:cNvPr id="6" name="內容版面配置區 2">
              <a:extLst>
                <a:ext uri="{FF2B5EF4-FFF2-40B4-BE49-F238E27FC236}">
                  <a16:creationId xmlns:a16="http://schemas.microsoft.com/office/drawing/2014/main" id="{6EE059E5-1F5D-4D38-A55E-741E0C8C2738}"/>
                </a:ext>
              </a:extLst>
            </p:cNvPr>
            <p:cNvSpPr txBox="1">
              <a:spLocks/>
            </p:cNvSpPr>
            <p:nvPr/>
          </p:nvSpPr>
          <p:spPr>
            <a:xfrm>
              <a:off x="913795" y="4083863"/>
              <a:ext cx="3166093" cy="59664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defPPr rtl="0">
                <a:defRPr lang="zh-tw"/>
              </a:defPPr>
              <a:lvl1pPr marL="36900" indent="0" algn="ctr" defTabSz="457200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8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defRPr>
              </a:lvl1pPr>
              <a:lvl2pPr marL="720000" indent="-270000" defTabSz="4572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"/>
                <a:defRPr sz="21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MingLiu" panose="02020509000000000000" pitchFamily="49" charset="-120"/>
                  <a:ea typeface="MingLiu" panose="02020509000000000000" pitchFamily="49" charset="-120"/>
                </a:defRPr>
              </a:lvl2pPr>
              <a:lvl3pPr marL="1026000" indent="-216000" defTabSz="4572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"/>
                <a:defRPr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MingLiu" panose="02020509000000000000" pitchFamily="49" charset="-120"/>
                  <a:ea typeface="MingLiu" panose="02020509000000000000" pitchFamily="49" charset="-120"/>
                </a:defRPr>
              </a:lvl3pPr>
              <a:lvl4pPr marL="1386000" indent="-216000" defTabSz="4572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"/>
                <a:defRPr sz="16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MingLiu" panose="02020509000000000000" pitchFamily="49" charset="-120"/>
                  <a:ea typeface="MingLiu" panose="02020509000000000000" pitchFamily="49" charset="-120"/>
                </a:defRPr>
              </a:lvl4pPr>
              <a:lvl5pPr marL="1674000" indent="-216000" defTabSz="4572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"/>
                <a:defRPr sz="16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MingLiu" panose="02020509000000000000" pitchFamily="49" charset="-120"/>
                  <a:ea typeface="MingLiu" panose="02020509000000000000" pitchFamily="49" charset="-120"/>
                </a:defRPr>
              </a:lvl5pPr>
              <a:lvl6pPr marL="2014600" indent="-228600" defTabSz="4572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"/>
                <a:defRPr sz="14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</a:defRPr>
              </a:lvl6pPr>
              <a:lvl7pPr marL="2401800" indent="-228600" defTabSz="4572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"/>
                <a:defRPr sz="14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</a:defRPr>
              </a:lvl7pPr>
              <a:lvl8pPr marL="2789000" indent="-228600" defTabSz="4572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"/>
                <a:defRPr sz="14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</a:defRPr>
              </a:lvl8pPr>
              <a:lvl9pPr marL="3106200" indent="-228600" defTabSz="4572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Char char=""/>
                <a:defRPr sz="14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</a:defRPr>
              </a:lvl9pPr>
            </a:lstStyle>
            <a:p>
              <a:r>
                <a:rPr lang="en-US" altLang="zh-TW" dirty="0"/>
                <a:t>GCC</a:t>
              </a:r>
              <a:r>
                <a:rPr lang="zh-TW" altLang="en-US" dirty="0"/>
                <a:t>和</a:t>
              </a:r>
              <a:r>
                <a:rPr lang="en-US" altLang="zh-TW" dirty="0"/>
                <a:t>GLIBC</a:t>
              </a:r>
              <a:endParaRPr lang="zh-TW" altLang="en-US" dirty="0"/>
            </a:p>
          </p:txBody>
        </p:sp>
      </p:grp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AAFAD3F-ADD4-4537-8A05-DFF42A5F39D3}"/>
              </a:ext>
            </a:extLst>
          </p:cNvPr>
          <p:cNvCxnSpPr>
            <a:cxnSpLocks/>
          </p:cNvCxnSpPr>
          <p:nvPr/>
        </p:nvCxnSpPr>
        <p:spPr>
          <a:xfrm flipH="1">
            <a:off x="3396392" y="3535955"/>
            <a:ext cx="7080" cy="795738"/>
          </a:xfrm>
          <a:prstGeom prst="straightConnector1">
            <a:avLst/>
          </a:prstGeom>
          <a:ln w="5715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52981AE5-85FD-4A49-AA94-22CC0988B8B0}"/>
              </a:ext>
            </a:extLst>
          </p:cNvPr>
          <p:cNvSpPr/>
          <p:nvPr/>
        </p:nvSpPr>
        <p:spPr>
          <a:xfrm>
            <a:off x="5815584" y="3678180"/>
            <a:ext cx="1280160" cy="511287"/>
          </a:xfrm>
          <a:prstGeom prst="rightArrow">
            <a:avLst>
              <a:gd name="adj1" fmla="val 34595"/>
              <a:gd name="adj2" fmla="val 78578"/>
            </a:avLst>
          </a:prstGeom>
          <a:solidFill>
            <a:schemeClr val="bg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3631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F5A094-F8E5-4E58-89B3-7658BF003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47" y="0"/>
            <a:ext cx="10353762" cy="1257300"/>
          </a:xfrm>
        </p:spPr>
        <p:txBody>
          <a:bodyPr/>
          <a:lstStyle/>
          <a:p>
            <a:r>
              <a:rPr lang="en-US" altLang="zh-TW" b="0" i="0" dirty="0">
                <a:effectLst/>
                <a:latin typeface="gg sans"/>
              </a:rPr>
              <a:t>text-generation-</a:t>
            </a:r>
            <a:r>
              <a:rPr lang="en-US" altLang="zh-TW" b="0" i="0" dirty="0" err="1">
                <a:effectLst/>
                <a:latin typeface="gg sans"/>
              </a:rPr>
              <a:t>webui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D6F6DEE4-C5ED-4320-A44F-318CAA66C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726" y="1130454"/>
            <a:ext cx="7806548" cy="5235419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089760-3F87-4C11-A4D8-23046E5BD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/>
              <a:t>2025/7/23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745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4CDD39A4-5D8D-45C9-96E4-FAD18C61E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990" y="574673"/>
            <a:ext cx="8452020" cy="5791200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8C749E-D0F3-467A-A7E8-DCFB9785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/>
              <a:t>2025/7/23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810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D636C2ED-86C7-416B-B099-E508518717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6" y="666529"/>
            <a:ext cx="8834188" cy="5524942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52CB0A-0A57-443F-8D68-32E06B473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/>
              <a:t>2025/7/23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709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14D7456-7A82-4751-8B23-D1ED76F80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534" y="549000"/>
            <a:ext cx="8012932" cy="5760000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BD055C-3590-49B9-964B-55F2F4C8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/>
              <a:t>2025/7/23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3018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71_TF12214701.potx" id="{BBB82F21-1842-44D0-B484-A888AAEB2B95}" vid="{768734AE-C4ED-4AF4-A856-0C4CCDE3A92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{7C5F6A89-DACA-4ADC-8D77-9B39399A6FD5}tf12214701_win32</Template>
  <TotalTime>170</TotalTime>
  <Words>75</Words>
  <Application>Microsoft Office PowerPoint</Application>
  <PresentationFormat>寬螢幕</PresentationFormat>
  <Paragraphs>25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gg sans</vt:lpstr>
      <vt:lpstr>MingLiu</vt:lpstr>
      <vt:lpstr>Calibri</vt:lpstr>
      <vt:lpstr>Goudy Old Style</vt:lpstr>
      <vt:lpstr>Times New Roman</vt:lpstr>
      <vt:lpstr>Wingdings 2</vt:lpstr>
      <vt:lpstr>SlateVTI</vt:lpstr>
      <vt:lpstr>20250723 Meeting成果彙報</vt:lpstr>
      <vt:lpstr>上週預期目標</vt:lpstr>
      <vt:lpstr>適合模型</vt:lpstr>
      <vt:lpstr>待解決問題</vt:lpstr>
      <vt:lpstr>text-generation-webui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標題 Lorem Ipsum</dc:title>
  <dc:creator>綵柔 洪</dc:creator>
  <cp:lastModifiedBy>綵柔 洪</cp:lastModifiedBy>
  <cp:revision>16</cp:revision>
  <dcterms:created xsi:type="dcterms:W3CDTF">2025-07-16T07:54:21Z</dcterms:created>
  <dcterms:modified xsi:type="dcterms:W3CDTF">2025-07-23T08:23:44Z</dcterms:modified>
</cp:coreProperties>
</file>