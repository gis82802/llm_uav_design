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1"/>
  </p:sldMasterIdLst>
  <p:notesMasterIdLst>
    <p:notesMasterId r:id="rId6"/>
  </p:notesMasterIdLst>
  <p:handoutMasterIdLst>
    <p:handoutMasterId r:id="rId7"/>
  </p:handoutMasterIdLst>
  <p:sldIdLst>
    <p:sldId id="259" r:id="rId2"/>
    <p:sldId id="266" r:id="rId3"/>
    <p:sldId id="263" r:id="rId4"/>
    <p:sldId id="261" r:id="rId5"/>
  </p:sldIdLst>
  <p:sldSz cx="12192000" cy="6858000"/>
  <p:notesSz cx="6858000" cy="9144000"/>
  <p:defaultTextStyle>
    <a:defPPr rtl="0"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8181"/>
    <a:srgbClr val="DDA147"/>
    <a:srgbClr val="B54C2D"/>
    <a:srgbClr val="B66952"/>
    <a:srgbClr val="B56D45"/>
    <a:srgbClr val="DF98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153" autoAdjust="0"/>
  </p:normalViewPr>
  <p:slideViewPr>
    <p:cSldViewPr snapToGrid="0">
      <p:cViewPr varScale="1">
        <p:scale>
          <a:sx n="80" d="100"/>
          <a:sy n="80" d="100"/>
        </p:scale>
        <p:origin x="782" y="6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3" d="100"/>
          <a:sy n="123" d="100"/>
        </p:scale>
        <p:origin x="497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預留位置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FB4D5E6-6CAD-43A1-B664-7F3D8E372CB9}" type="datetime1">
              <a:rPr lang="zh-TW" altLang="en-US" smtClean="0"/>
              <a:t>2025/8/5</a:t>
            </a:fld>
            <a:endParaRPr lang="en-US" dirty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投影片編號預留位置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51E602E8-7778-4840-9C52-CF866E2E76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600392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預留位置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85226E2-B735-4508-A988-88E01057849B}" type="datetime1">
              <a:rPr lang="zh-TW" altLang="en-US" smtClean="0"/>
              <a:t>2025/8/5</a:t>
            </a:fld>
            <a:endParaRPr 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備忘稿預留位置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tw"/>
              <a:t>按一下以編輯母片文字樣式</a:t>
            </a:r>
            <a:endParaRPr lang="en-US"/>
          </a:p>
          <a:p>
            <a:pPr lvl="1" rtl="0"/>
            <a:r>
              <a:rPr lang="zh-tw"/>
              <a:t>第二層</a:t>
            </a:r>
          </a:p>
          <a:p>
            <a:pPr lvl="2" rtl="0"/>
            <a:r>
              <a:rPr lang="zh-tw"/>
              <a:t>第三層</a:t>
            </a:r>
          </a:p>
          <a:p>
            <a:pPr lvl="3" rtl="0"/>
            <a:r>
              <a:rPr lang="zh-tw"/>
              <a:t>第四層</a:t>
            </a:r>
          </a:p>
          <a:p>
            <a:pPr lvl="4" rtl="0"/>
            <a:r>
              <a:rPr lang="zh-tw"/>
              <a:t>第五層</a:t>
            </a:r>
            <a:endParaRPr lang="en-US"/>
          </a:p>
        </p:txBody>
      </p:sp>
      <p:sp>
        <p:nvSpPr>
          <p:cNvPr id="6" name="頁尾預留位置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7E86D5CD-F53C-40AA-8F25-6C53AFF44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398133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rtlCol="0" anchor="b">
            <a:normAutofit/>
          </a:bodyPr>
          <a:lstStyle>
            <a:lvl1pPr algn="ctr">
              <a:defRPr sz="5400"/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rtlCol="0"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29A0F2C-D61B-4F78-A598-3F89F6808591}" type="datetime1">
              <a:rPr lang="zh-TW" altLang="en-US" smtClean="0"/>
              <a:t>2025/8/5</a:t>
            </a:fld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2525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1257300"/>
          </a:xfrm>
        </p:spPr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內容預留位置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8520340" y="6000748"/>
            <a:ext cx="2743200" cy="365125"/>
          </a:xfrm>
        </p:spPr>
        <p:txBody>
          <a:bodyPr rtlCol="0"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10E378B1-F921-4DB6-A0B5-FBAB6D815817}" type="datetime1">
              <a:rPr lang="zh-TW" altLang="en-US" smtClean="0"/>
              <a:pPr/>
              <a:t>2025/8/5</a:t>
            </a:fld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>
          <a:xfrm>
            <a:off x="11438455" y="6492875"/>
            <a:ext cx="753545" cy="365125"/>
          </a:xfrm>
        </p:spPr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5865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rtlCol="0" anchor="b"/>
          <a:lstStyle>
            <a:lvl1pPr algn="ctr">
              <a:defRPr sz="4000" b="0" cap="none"/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文字預留位置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rtlCol="0"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8142751" y="6028576"/>
            <a:ext cx="2743200" cy="365125"/>
          </a:xfrm>
        </p:spPr>
        <p:txBody>
          <a:bodyPr rtlCol="0"/>
          <a:lstStyle/>
          <a:p>
            <a:pPr rtl="0"/>
            <a:fld id="{71CF3BCF-43AF-44CE-8DED-A0A7E4AFE36C}" type="datetime1">
              <a:rPr lang="zh-TW" altLang="en-US" smtClean="0"/>
              <a:t>2025/8/5</a:t>
            </a:fld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>
          <a:xfrm>
            <a:off x="11438455" y="6492875"/>
            <a:ext cx="753545" cy="365125"/>
          </a:xfrm>
        </p:spPr>
        <p:txBody>
          <a:bodyPr rtlCol="0"/>
          <a:lstStyle/>
          <a:p>
            <a:pPr rtl="0"/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486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內容預留位置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rtlCol="0" anchor="t">
            <a:normAutofit/>
          </a:bodyPr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內容預留位置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rtlCol="0" anchor="t">
            <a:normAutofit/>
          </a:bodyPr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B4E0B6A-E6B6-44EB-92C6-B1EDD7A0CF53}" type="datetime1">
              <a:rPr lang="zh-TW" altLang="en-US" smtClean="0"/>
              <a:t>2025/8/5</a:t>
            </a:fld>
            <a:endParaRPr lang="en-US" dirty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175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圖片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圖片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預留位置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rtlCol="0"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zh-tw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預留位置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rtlCol="0"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zh-tw" dirty="0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8982518-B634-4B56-A479-88927FC85B72}" type="datetime1">
              <a:rPr lang="zh-TW" altLang="en-US" smtClean="0"/>
              <a:t>2025/8/5</a:t>
            </a:fld>
            <a:endParaRPr lang="en-US" dirty="0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投影片編號預留位置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887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95BBEA0-9E15-4B30-90D1-183370C5F62E}" type="datetime1">
              <a:rPr lang="zh-TW" altLang="en-US" smtClean="0"/>
              <a:t>2025/8/5</a:t>
            </a:fld>
            <a:endParaRPr lang="en-US" dirty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5" name="投影片編號預留位置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4888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322B815-A77C-480F-A07E-33569587508E}" type="datetime1">
              <a:rPr lang="zh-TW" altLang="en-US" smtClean="0"/>
              <a:t>2025/8/5</a:t>
            </a:fld>
            <a:endParaRPr lang="en-US" dirty="0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916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rtlCol="0" anchor="b">
            <a:normAutofit/>
          </a:bodyPr>
          <a:lstStyle>
            <a:lvl1pPr algn="ctr">
              <a:defRPr sz="2800" b="0"/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內容預留位置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 rtlCol="0">
            <a:normAutofit/>
          </a:bodyPr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文字預留位置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A0AA884-2339-4FDA-B838-711CBE37D2CE}" type="datetime1">
              <a:rPr lang="zh-TW" altLang="en-US" smtClean="0"/>
              <a:t>2025/8/5</a:t>
            </a:fld>
            <a:endParaRPr lang="en-US" dirty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479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圖片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rtlCol="0" anchor="b">
            <a:noAutofit/>
          </a:bodyPr>
          <a:lstStyle>
            <a:lvl1pPr algn="ctr">
              <a:defRPr sz="3200" b="0"/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圖片預留位置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文字預留位置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3194BED-1B93-40DC-B7C0-9A9596B3071C}" type="datetime1">
              <a:rPr lang="zh-TW" altLang="en-US" smtClean="0"/>
              <a:t>2025/8/5</a:t>
            </a:fld>
            <a:endParaRPr lang="en-US" dirty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algn="l" rtl="0"/>
            <a:endParaRPr lang="en-US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378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含標題的全景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圖片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rtlCol="0" anchor="b">
            <a:normAutofit/>
          </a:bodyPr>
          <a:lstStyle>
            <a:lvl1pPr algn="ctr">
              <a:defRPr sz="2800"/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圖片預留位置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文字預留位置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rtlCol="0"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4CD7CC2-5874-4136-B618-25EAC07F2E5F}" type="datetime1">
              <a:rPr lang="zh-TW" altLang="en-US" smtClean="0"/>
              <a:t>2025/8/5</a:t>
            </a:fld>
            <a:endParaRPr lang="en-US" dirty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4665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rtlCol="0" anchor="ctr">
            <a:normAutofit/>
          </a:bodyPr>
          <a:lstStyle>
            <a:lvl1pPr>
              <a:defRPr sz="4000"/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文字預留位置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rtlCol="0"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DF3F2D1-9D40-497F-84BA-DE8CE6BA4BEE}" type="datetime1">
              <a:rPr lang="zh-TW" altLang="en-US" smtClean="0"/>
              <a:t>2025/8/5</a:t>
            </a:fld>
            <a:endParaRPr lang="en-US" dirty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2055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含標題的引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rtlCol="0" anchor="ctr">
            <a:normAutofit/>
          </a:bodyPr>
          <a:lstStyle>
            <a:lvl1pPr>
              <a:defRPr sz="3600"/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2" name="文字預留位置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4" name="文字預留位置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FF5CCF7-2695-4131-AD00-E93CBB603F28}" type="datetime1">
              <a:rPr lang="zh-TW" altLang="en-US" smtClean="0"/>
              <a:t>2025/8/5</a:t>
            </a:fld>
            <a:endParaRPr lang="en-US" dirty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rtl="0"/>
            <a:r>
              <a:rPr lang="zh-tw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zh-tw" sz="8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805943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文字預留位置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rtlCol="0"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1024A9C-A6DB-458D-B7DE-5140A276A908}" type="datetime1">
              <a:rPr lang="zh-TW" altLang="en-US" smtClean="0"/>
              <a:t>2025/8/5</a:t>
            </a:fld>
            <a:endParaRPr lang="en-US" dirty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88362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標題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7" name="文字版面配置區 2"/>
          <p:cNvSpPr>
            <a:spLocks noGrp="1"/>
          </p:cNvSpPr>
          <p:nvPr>
            <p:ph type="body" idx="1" hasCustomPrompt="1"/>
          </p:nvPr>
        </p:nvSpPr>
        <p:spPr>
          <a:xfrm>
            <a:off x="913795" y="1885950"/>
            <a:ext cx="3300984" cy="76478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dirty="0"/>
              <a:t>按一下以編輯母片文字</a:t>
            </a:r>
            <a:br>
              <a:rPr lang="en-US" altLang="zh-TW" dirty="0"/>
            </a:br>
            <a:r>
              <a:rPr lang="zh-tw" dirty="0"/>
              <a:t>樣式</a:t>
            </a:r>
          </a:p>
        </p:txBody>
      </p:sp>
      <p:sp>
        <p:nvSpPr>
          <p:cNvPr id="8" name="文字預留位置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9" name="文字版面配置區 4"/>
          <p:cNvSpPr>
            <a:spLocks noGrp="1"/>
          </p:cNvSpPr>
          <p:nvPr>
            <p:ph type="body" sz="quarter" idx="3" hasCustomPrompt="1"/>
          </p:nvPr>
        </p:nvSpPr>
        <p:spPr>
          <a:xfrm>
            <a:off x="4446711" y="1885949"/>
            <a:ext cx="3300984" cy="764783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dirty="0"/>
              <a:t>按一下以編輯母片文字</a:t>
            </a:r>
            <a:br>
              <a:rPr lang="en-US" altLang="zh-TW" dirty="0"/>
            </a:br>
            <a:r>
              <a:rPr lang="zh-tw" dirty="0"/>
              <a:t>樣式</a:t>
            </a:r>
          </a:p>
        </p:txBody>
      </p:sp>
      <p:sp>
        <p:nvSpPr>
          <p:cNvPr id="10" name="文字預留位置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11" name="文字預留位置 4"/>
          <p:cNvSpPr>
            <a:spLocks noGrp="1"/>
          </p:cNvSpPr>
          <p:nvPr>
            <p:ph type="body" sz="quarter" idx="13" hasCustomPrompt="1"/>
          </p:nvPr>
        </p:nvSpPr>
        <p:spPr>
          <a:xfrm>
            <a:off x="7966572" y="1885950"/>
            <a:ext cx="3300984" cy="76478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dirty="0"/>
              <a:t>按一下以編輯母片文字</a:t>
            </a:r>
            <a:br>
              <a:rPr lang="en-US" altLang="zh-TW" dirty="0"/>
            </a:br>
            <a:r>
              <a:rPr lang="zh-tw" dirty="0"/>
              <a:t>樣式</a:t>
            </a:r>
          </a:p>
        </p:txBody>
      </p:sp>
      <p:sp>
        <p:nvSpPr>
          <p:cNvPr id="12" name="文字預留位置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9E5272A-0B28-4E11-950A-313FC911A049}" type="datetime1">
              <a:rPr lang="zh-TW" altLang="en-US" smtClean="0"/>
              <a:t>2025/8/5</a:t>
            </a:fld>
            <a:endParaRPr lang="en-US" dirty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5" name="投影片編號預留位置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4069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圖片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圖片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圖片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標題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9" name="文字版面配置區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20" name="圖片預留位置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1" name="文字預留位置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22" name="文字預留位置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23" name="圖片預留位置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4" name="文字預留位置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25" name="文字預留位置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26" name="圖片預留位置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7" name="文字預留位置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4ACF7D8-7292-4421-9561-61106B87073C}" type="datetime1">
              <a:rPr lang="zh-TW" altLang="en-US" smtClean="0"/>
              <a:t>2025/8/5</a:t>
            </a:fld>
            <a:endParaRPr lang="en-US" dirty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5" name="投影片編號預留位置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23026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直排文字預留位置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 anchor="t"/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E9803B5-326F-4B80-8A1B-8F2AA9FC8140}" type="datetime1">
              <a:rPr lang="zh-TW" altLang="en-US" smtClean="0"/>
              <a:t>2025/8/5</a:t>
            </a:fld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41586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 rtlCol="0"/>
          <a:lstStyle>
            <a:lvl1pPr algn="l">
              <a:defRPr/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直排文字預留位置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rtlCol="0" anchor="t"/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C6E54B5-1D10-449A-852D-5291154807A6}" type="datetime1">
              <a:rPr lang="zh-TW" altLang="en-US" smtClean="0"/>
              <a:t>2025/8/5</a:t>
            </a:fld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4527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zh-tw" dirty="0"/>
              <a:t>按一下以編輯母片標題樣式</a:t>
            </a:r>
            <a:endParaRPr lang="en-US" dirty="0"/>
          </a:p>
        </p:txBody>
      </p:sp>
      <p:sp>
        <p:nvSpPr>
          <p:cNvPr id="3" name="文字預留位置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 rtl="0"/>
            <a:r>
              <a:rPr lang="zh-tw"/>
              <a:t>按一下以編輯母片文字樣式</a:t>
            </a:r>
          </a:p>
          <a:p>
            <a:pPr lvl="1" rtl="0"/>
            <a:r>
              <a:rPr lang="zh-tw"/>
              <a:t>第二層</a:t>
            </a:r>
          </a:p>
          <a:p>
            <a:pPr lvl="2" rtl="0"/>
            <a:r>
              <a:rPr lang="zh-tw"/>
              <a:t>第三層</a:t>
            </a:r>
          </a:p>
          <a:p>
            <a:pPr lvl="3" rtl="0"/>
            <a:r>
              <a:rPr lang="zh-tw"/>
              <a:t>第四層</a:t>
            </a:r>
          </a:p>
          <a:p>
            <a:pPr lvl="4" rtl="0"/>
            <a:r>
              <a:rPr lang="zh-tw"/>
              <a:t>第五層</a:t>
            </a:r>
            <a:endParaRPr 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  <a:latin typeface="Times New Roman" panose="02020603050405020304" pitchFamily="18" charset="0"/>
                <a:ea typeface="MingLiu" panose="02020509000000000000" pitchFamily="49" charset="-120"/>
                <a:cs typeface="Times New Roman" panose="02020603050405020304" pitchFamily="18" charset="0"/>
              </a:defRPr>
            </a:lvl1pPr>
          </a:lstStyle>
          <a:p>
            <a:fld id="{E27EBA36-4489-4ED5-9948-A27DCFE4D027}" type="datetime1">
              <a:rPr lang="zh-TW" altLang="en-US" smtClean="0"/>
              <a:pPr/>
              <a:t>2025/8/5</a:t>
            </a:fld>
            <a:endParaRPr lang="en-US" dirty="0"/>
          </a:p>
        </p:txBody>
      </p:sp>
      <p:sp>
        <p:nvSpPr>
          <p:cNvPr id="5" name="頁尾預留位置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  <a:latin typeface="MingLiu" panose="02020509000000000000" pitchFamily="49" charset="-120"/>
                <a:ea typeface="MingLiu" panose="02020509000000000000" pitchFamily="49" charset="-120"/>
              </a:defRPr>
            </a:lvl1pPr>
          </a:lstStyle>
          <a:p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  <a:latin typeface="MingLiu" panose="02020509000000000000" pitchFamily="49" charset="-120"/>
                <a:ea typeface="MingLiu" panose="02020509000000000000" pitchFamily="49" charset="-120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98027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3" r:id="rId1"/>
    <p:sldLayoutId id="2147483715" r:id="rId2"/>
    <p:sldLayoutId id="2147483716" r:id="rId3"/>
    <p:sldLayoutId id="2147483714" r:id="rId4"/>
    <p:sldLayoutId id="2147483710" r:id="rId5"/>
    <p:sldLayoutId id="2147483694" r:id="rId6"/>
    <p:sldLayoutId id="2147483695" r:id="rId7"/>
    <p:sldLayoutId id="2147483696" r:id="rId8"/>
    <p:sldLayoutId id="2147483697" r:id="rId9"/>
    <p:sldLayoutId id="2147483699" r:id="rId10"/>
    <p:sldLayoutId id="2147483693" r:id="rId11"/>
    <p:sldLayoutId id="2147483700" r:id="rId12"/>
    <p:sldLayoutId id="2147483701" r:id="rId13"/>
    <p:sldLayoutId id="2147483703" r:id="rId14"/>
    <p:sldLayoutId id="2147483704" r:id="rId15"/>
    <p:sldLayoutId id="2147483702" r:id="rId16"/>
    <p:sldLayoutId id="2147483698" r:id="rId17"/>
  </p:sldLayoutIdLst>
  <p:hf sldNum="0" hdr="0" ftr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MingLiu" panose="02020509000000000000" pitchFamily="49" charset="-120"/>
          <a:ea typeface="MingLiu" panose="02020509000000000000" pitchFamily="49" charset="-120"/>
          <a:cs typeface="MingLiu" panose="02020509000000000000" pitchFamily="49" charset="-120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MingLiu" panose="02020509000000000000" pitchFamily="49" charset="-120"/>
          <a:ea typeface="MingLiu" panose="02020509000000000000" pitchFamily="49" charset="-120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MingLiu" panose="02020509000000000000" pitchFamily="49" charset="-120"/>
          <a:ea typeface="MingLiu" panose="02020509000000000000" pitchFamily="49" charset="-120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MingLiu" panose="02020509000000000000" pitchFamily="49" charset="-120"/>
          <a:ea typeface="MingLiu" panose="02020509000000000000" pitchFamily="49" charset="-120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MingLiu" panose="02020509000000000000" pitchFamily="49" charset="-120"/>
          <a:ea typeface="MingLiu" panose="02020509000000000000" pitchFamily="49" charset="-120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MingLiu" panose="02020509000000000000" pitchFamily="49" charset="-120"/>
          <a:ea typeface="MingLiu" panose="02020509000000000000" pitchFamily="49" charset="-120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huggingface.co/mradermacher/Llama-3-8B-Instruct-Coding-Expert-GGUF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 descr="包含杯子、咖啡、食物、飲料的圖片&#10;&#10;自動產生的描述">
            <a:extLst>
              <a:ext uri="{FF2B5EF4-FFF2-40B4-BE49-F238E27FC236}">
                <a16:creationId xmlns:a16="http://schemas.microsoft.com/office/drawing/2014/main" id="{91BC5572-FC33-4C1C-8DEE-C2CF75A7564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17472"/>
            <a:ext cx="12191980" cy="2648381"/>
          </a:xfrm>
        </p:spPr>
        <p:txBody>
          <a:bodyPr rtlCol="0">
            <a:normAutofit/>
          </a:bodyPr>
          <a:lstStyle/>
          <a:p>
            <a:r>
              <a:rPr lang="en-US" altLang="zh-TW" sz="6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20250806 Meeting</a:t>
            </a:r>
            <a:br>
              <a:rPr lang="en-US" altLang="zh-TW" sz="6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sz="6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LLM</a:t>
            </a:r>
            <a:r>
              <a:rPr lang="zh-TW" altLang="en-US" sz="6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作業自評進度彙報</a:t>
            </a:r>
            <a:endParaRPr lang="zh-tw" sz="6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441001"/>
            <a:ext cx="12192000" cy="1397951"/>
          </a:xfrm>
        </p:spPr>
        <p:txBody>
          <a:bodyPr rtlCol="0">
            <a:normAutofit/>
          </a:bodyPr>
          <a:lstStyle/>
          <a:p>
            <a:pPr rtl="0"/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王緯禎、洪綵柔</a:t>
            </a:r>
            <a:endParaRPr lang="zh-tw" sz="3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33738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B998E4D-6F32-43F3-A03D-6B0A534BF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Llama-3-8B-Instruct-Coding-Expert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1BEF25A-CB7F-4096-92D7-D8AAA2FC4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10E378B1-F921-4DB6-A0B5-FBAB6D815817}" type="datetime1">
              <a:rPr lang="zh-TW" altLang="en-US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2025/8/5</a:t>
            </a:fld>
            <a:endParaRPr 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6" name="圖片 5">
            <a:hlinkClick r:id="rId2"/>
            <a:extLst>
              <a:ext uri="{FF2B5EF4-FFF2-40B4-BE49-F238E27FC236}">
                <a16:creationId xmlns:a16="http://schemas.microsoft.com/office/drawing/2014/main" id="{38FB08D7-CD31-4C95-AD6E-589A6FC8D4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777" y="1230580"/>
            <a:ext cx="10353763" cy="4770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631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B8C749E-D0F3-467A-A7E8-DCFB97858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10E378B1-F921-4DB6-A0B5-FBAB6D815817}" type="datetime1">
              <a:rPr lang="zh-TW" altLang="en-US" smtClean="0"/>
              <a:t>2025/8/5</a:t>
            </a:fld>
            <a:endParaRPr lang="en-US" dirty="0"/>
          </a:p>
        </p:txBody>
      </p:sp>
      <p:graphicFrame>
        <p:nvGraphicFramePr>
          <p:cNvPr id="5" name="表格 6">
            <a:extLst>
              <a:ext uri="{FF2B5EF4-FFF2-40B4-BE49-F238E27FC236}">
                <a16:creationId xmlns:a16="http://schemas.microsoft.com/office/drawing/2014/main" id="{35F84891-E323-4FD6-AD98-77F2DAFCD4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7500414"/>
              </p:ext>
            </p:extLst>
          </p:nvPr>
        </p:nvGraphicFramePr>
        <p:xfrm>
          <a:off x="1124498" y="2318004"/>
          <a:ext cx="9932355" cy="2221992"/>
        </p:xfrm>
        <a:graphic>
          <a:graphicData uri="http://schemas.openxmlformats.org/drawingml/2006/table">
            <a:tbl>
              <a:tblPr firstRow="1" firstCol="1" bandRow="1">
                <a:tableStyleId>{7DF18680-E054-41AD-8BC1-D1AEF772440D}</a:tableStyleId>
              </a:tblPr>
              <a:tblGrid>
                <a:gridCol w="1570071">
                  <a:extLst>
                    <a:ext uri="{9D8B030D-6E8A-4147-A177-3AD203B41FA5}">
                      <a16:colId xmlns:a16="http://schemas.microsoft.com/office/drawing/2014/main" val="2540747266"/>
                    </a:ext>
                  </a:extLst>
                </a:gridCol>
                <a:gridCol w="1393714">
                  <a:extLst>
                    <a:ext uri="{9D8B030D-6E8A-4147-A177-3AD203B41FA5}">
                      <a16:colId xmlns:a16="http://schemas.microsoft.com/office/drawing/2014/main" val="529386097"/>
                    </a:ext>
                  </a:extLst>
                </a:gridCol>
                <a:gridCol w="1393714">
                  <a:extLst>
                    <a:ext uri="{9D8B030D-6E8A-4147-A177-3AD203B41FA5}">
                      <a16:colId xmlns:a16="http://schemas.microsoft.com/office/drawing/2014/main" val="3531852383"/>
                    </a:ext>
                  </a:extLst>
                </a:gridCol>
                <a:gridCol w="1393714">
                  <a:extLst>
                    <a:ext uri="{9D8B030D-6E8A-4147-A177-3AD203B41FA5}">
                      <a16:colId xmlns:a16="http://schemas.microsoft.com/office/drawing/2014/main" val="2987238985"/>
                    </a:ext>
                  </a:extLst>
                </a:gridCol>
                <a:gridCol w="1393714">
                  <a:extLst>
                    <a:ext uri="{9D8B030D-6E8A-4147-A177-3AD203B41FA5}">
                      <a16:colId xmlns:a16="http://schemas.microsoft.com/office/drawing/2014/main" val="1917303762"/>
                    </a:ext>
                  </a:extLst>
                </a:gridCol>
                <a:gridCol w="1393714">
                  <a:extLst>
                    <a:ext uri="{9D8B030D-6E8A-4147-A177-3AD203B41FA5}">
                      <a16:colId xmlns:a16="http://schemas.microsoft.com/office/drawing/2014/main" val="21700034"/>
                    </a:ext>
                  </a:extLst>
                </a:gridCol>
                <a:gridCol w="1393714">
                  <a:extLst>
                    <a:ext uri="{9D8B030D-6E8A-4147-A177-3AD203B41FA5}">
                      <a16:colId xmlns:a16="http://schemas.microsoft.com/office/drawing/2014/main" val="623645698"/>
                    </a:ext>
                  </a:extLst>
                </a:gridCol>
              </a:tblGrid>
              <a:tr h="111099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Model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Llama 3 8B </a:t>
                      </a:r>
                      <a:r>
                        <a:rPr lang="en-US" altLang="zh-TW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Q4S</a:t>
                      </a:r>
                      <a:endParaRPr lang="zh-TW" altLang="en-US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Llama 3 8B </a:t>
                      </a:r>
                      <a:r>
                        <a:rPr lang="en-US" altLang="zh-TW" sz="1800" b="1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Q4M</a:t>
                      </a:r>
                      <a:endParaRPr lang="zh-TW" altLang="en-US" sz="1800" b="1" kern="1200" dirty="0">
                        <a:solidFill>
                          <a:schemeClr val="lt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Llama 3 8B </a:t>
                      </a:r>
                      <a:r>
                        <a:rPr lang="en-US" altLang="zh-TW" sz="1800" b="1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Q5S</a:t>
                      </a:r>
                      <a:endParaRPr lang="zh-TW" altLang="en-US" sz="1800" b="1" kern="1200" dirty="0">
                        <a:solidFill>
                          <a:schemeClr val="lt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Llama 3 8B </a:t>
                      </a:r>
                      <a:r>
                        <a:rPr lang="en-US" altLang="zh-TW" sz="1800" b="1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Q5M</a:t>
                      </a:r>
                      <a:endParaRPr lang="zh-TW" altLang="en-US" sz="1800" b="1" kern="1200" dirty="0">
                        <a:solidFill>
                          <a:schemeClr val="lt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Llama 3 8B </a:t>
                      </a:r>
                      <a:r>
                        <a:rPr lang="en-US" altLang="zh-TW" sz="1800" b="1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Q6</a:t>
                      </a:r>
                      <a:endParaRPr lang="zh-TW" altLang="en-US" sz="1800" b="1" kern="1200" dirty="0">
                        <a:solidFill>
                          <a:schemeClr val="lt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Llama 3 8B </a:t>
                      </a:r>
                      <a:r>
                        <a:rPr lang="en-US" altLang="zh-TW" sz="1800" b="1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Q8</a:t>
                      </a:r>
                      <a:endParaRPr lang="zh-TW" altLang="en-US" sz="1800" b="1" kern="1200" dirty="0">
                        <a:solidFill>
                          <a:schemeClr val="lt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9222766"/>
                  </a:ext>
                </a:extLst>
              </a:tr>
              <a:tr h="111099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VRAM</a:t>
                      </a:r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usage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6623MB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6847MB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7513MB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7645MB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8493MB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10403MB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1191526"/>
                  </a:ext>
                </a:extLst>
              </a:tr>
            </a:tbl>
          </a:graphicData>
        </a:graphic>
      </p:graphicFrame>
      <p:sp>
        <p:nvSpPr>
          <p:cNvPr id="7" name="標題 1">
            <a:extLst>
              <a:ext uri="{FF2B5EF4-FFF2-40B4-BE49-F238E27FC236}">
                <a16:creationId xmlns:a16="http://schemas.microsoft.com/office/drawing/2014/main" id="{DB499B1B-D480-474E-A592-10211EC66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12573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各模型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VRAM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占用</a:t>
            </a:r>
          </a:p>
        </p:txBody>
      </p:sp>
    </p:spTree>
    <p:extLst>
      <p:ext uri="{BB962C8B-B14F-4D97-AF65-F5344CB8AC3E}">
        <p14:creationId xmlns:p14="http://schemas.microsoft.com/office/powerpoint/2010/main" val="41398109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3E6DF21E-DD70-4D1A-9D64-71F92E97611B}"/>
              </a:ext>
            </a:extLst>
          </p:cNvPr>
          <p:cNvSpPr txBox="1"/>
          <p:nvPr/>
        </p:nvSpPr>
        <p:spPr>
          <a:xfrm>
            <a:off x="0" y="3505200"/>
            <a:ext cx="12192000" cy="33528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endParaRPr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752CB0A-0A57-443F-8D68-32E06B473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10E378B1-F921-4DB6-A0B5-FBAB6D815817}" type="datetime1">
              <a:rPr lang="zh-TW" altLang="en-US" smtClean="0"/>
              <a:t>2025/8/5</a:t>
            </a:fld>
            <a:endParaRPr lang="en-US" dirty="0"/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id="{3E7DB5F2-1030-4528-BDC1-6EF65776F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12573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進度彙報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9EB5B16C-6642-4DC0-AE4E-3E35A93FE7E3}"/>
              </a:ext>
            </a:extLst>
          </p:cNvPr>
          <p:cNvSpPr txBox="1"/>
          <p:nvPr/>
        </p:nvSpPr>
        <p:spPr>
          <a:xfrm>
            <a:off x="2137801" y="1568144"/>
            <a:ext cx="8229600" cy="13140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在</a:t>
            </a:r>
            <a:r>
              <a:rPr lang="en-US" altLang="zh-TW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AE_01</a:t>
            </a: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成功架設</a:t>
            </a:r>
            <a:r>
              <a:rPr lang="en-US" altLang="zh-TW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Llama</a:t>
            </a: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70B</a:t>
            </a: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Q4S(33GB VRAM)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在系上</a:t>
            </a:r>
            <a:r>
              <a:rPr lang="en-US" altLang="zh-TW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HP</a:t>
            </a: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機房架設</a:t>
            </a:r>
            <a:r>
              <a:rPr lang="en-US" altLang="zh-TW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Llama</a:t>
            </a: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8B</a:t>
            </a: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Coding</a:t>
            </a: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Expert</a:t>
            </a:r>
            <a:endParaRPr lang="zh-TW" altLang="en-US" sz="2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EB437149-F767-4056-818E-7C5519EADE44}"/>
              </a:ext>
            </a:extLst>
          </p:cNvPr>
          <p:cNvSpPr txBox="1"/>
          <p:nvPr/>
        </p:nvSpPr>
        <p:spPr>
          <a:xfrm>
            <a:off x="2137801" y="4380956"/>
            <a:ext cx="8877299" cy="13089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TW" altLang="en-US" sz="28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完成作業自平與其他模型之</a:t>
            </a:r>
            <a:r>
              <a:rPr lang="en-US" altLang="zh-TW" sz="28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48</a:t>
            </a:r>
            <a:r>
              <a:rPr lang="zh-TW" altLang="en-US" sz="28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筆資料結果比對</a:t>
            </a:r>
            <a:endParaRPr lang="en-US" altLang="zh-TW" sz="2800" dirty="0">
              <a:solidFill>
                <a:schemeClr val="accent3">
                  <a:lumMod val="75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TW" altLang="en-US" sz="28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找到</a:t>
            </a:r>
            <a:r>
              <a:rPr lang="en-US" altLang="zh-TW" sz="28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text-generation-</a:t>
            </a:r>
            <a:r>
              <a:rPr lang="en-US" altLang="zh-TW" sz="2800" dirty="0" err="1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webui</a:t>
            </a:r>
            <a:r>
              <a:rPr lang="zh-TW" altLang="en-US" sz="28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獨立</a:t>
            </a:r>
            <a:r>
              <a:rPr lang="en-US" altLang="zh-TW" sz="28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API Port</a:t>
            </a:r>
            <a:r>
              <a:rPr lang="zh-TW" altLang="en-US" sz="28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以符合廠商需求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ECEDFF4E-8F7C-4086-B3A8-CB6BA9EE7933}"/>
              </a:ext>
            </a:extLst>
          </p:cNvPr>
          <p:cNvSpPr txBox="1"/>
          <p:nvPr/>
        </p:nvSpPr>
        <p:spPr>
          <a:xfrm>
            <a:off x="650362" y="901091"/>
            <a:ext cx="1796024" cy="662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本週進度：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4AA1424B-163C-474A-BDE9-04374E76DC70}"/>
              </a:ext>
            </a:extLst>
          </p:cNvPr>
          <p:cNvSpPr txBox="1"/>
          <p:nvPr/>
        </p:nvSpPr>
        <p:spPr>
          <a:xfrm>
            <a:off x="-92587" y="3718339"/>
            <a:ext cx="2538973" cy="662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rtl="0">
              <a:defRPr lang="zh-tw"/>
            </a:defPPr>
            <a:lvl1pPr marL="342900" indent="-342900">
              <a:lnSpc>
                <a:spcPct val="150000"/>
              </a:lnSpc>
              <a:buFont typeface="+mj-lt"/>
              <a:buAutoNum type="arabicPeriod"/>
              <a:defRPr sz="280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pPr marL="0" indent="0">
              <a:buNone/>
            </a:pPr>
            <a:r>
              <a:rPr lang="zh-TW" altLang="en-US" dirty="0">
                <a:solidFill>
                  <a:schemeClr val="accent3">
                    <a:lumMod val="75000"/>
                  </a:schemeClr>
                </a:solidFill>
              </a:rPr>
              <a:t>下週預期進度：</a:t>
            </a:r>
          </a:p>
        </p:txBody>
      </p:sp>
    </p:spTree>
    <p:extLst>
      <p:ext uri="{BB962C8B-B14F-4D97-AF65-F5344CB8AC3E}">
        <p14:creationId xmlns:p14="http://schemas.microsoft.com/office/powerpoint/2010/main" val="135670926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offee">
      <a:dk1>
        <a:sysClr val="windowText" lastClr="000000"/>
      </a:dk1>
      <a:lt1>
        <a:sysClr val="window" lastClr="FFFFFF"/>
      </a:lt1>
      <a:dk2>
        <a:srgbClr val="4E3B30"/>
      </a:dk2>
      <a:lt2>
        <a:srgbClr val="F4EEDC"/>
      </a:lt2>
      <a:accent1>
        <a:srgbClr val="CC830E"/>
      </a:accent1>
      <a:accent2>
        <a:srgbClr val="B54C2D"/>
      </a:accent2>
      <a:accent3>
        <a:srgbClr val="99570C"/>
      </a:accent3>
      <a:accent4>
        <a:srgbClr val="C17529"/>
      </a:accent4>
      <a:accent5>
        <a:srgbClr val="A19574"/>
      </a:accent5>
      <a:accent6>
        <a:srgbClr val="A49518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8671_TF12214701.potx" id="{BBB82F21-1842-44D0-B484-A888AAEB2B95}" vid="{768734AE-C4ED-4AF4-A856-0C4CCDE3A921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430</TotalTime>
  <Words>116</Words>
  <Application>Microsoft Office PowerPoint</Application>
  <PresentationFormat>寬螢幕</PresentationFormat>
  <Paragraphs>28</Paragraphs>
  <Slides>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11" baseType="lpstr">
      <vt:lpstr>MingLiu</vt:lpstr>
      <vt:lpstr>標楷體</vt:lpstr>
      <vt:lpstr>Calibri</vt:lpstr>
      <vt:lpstr>Goudy Old Style</vt:lpstr>
      <vt:lpstr>Times New Roman</vt:lpstr>
      <vt:lpstr>Wingdings 2</vt:lpstr>
      <vt:lpstr>SlateVTI</vt:lpstr>
      <vt:lpstr>20250806 Meeting LLM作業自評進度彙報</vt:lpstr>
      <vt:lpstr>Llama-3-8B-Instruct-Coding-Expert</vt:lpstr>
      <vt:lpstr>各模型VRAM占用</vt:lpstr>
      <vt:lpstr>進度彙報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標題 Lorem Ipsum</dc:title>
  <dc:creator>綵柔 洪</dc:creator>
  <cp:lastModifiedBy>綵柔 洪</cp:lastModifiedBy>
  <cp:revision>44</cp:revision>
  <dcterms:created xsi:type="dcterms:W3CDTF">2025-07-16T07:54:21Z</dcterms:created>
  <dcterms:modified xsi:type="dcterms:W3CDTF">2025-08-05T13:18:07Z</dcterms:modified>
</cp:coreProperties>
</file>