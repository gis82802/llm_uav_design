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</p:sldMasterIdLst>
  <p:notesMasterIdLst>
    <p:notesMasterId r:id="rId6"/>
  </p:notesMasterIdLst>
  <p:handoutMasterIdLst>
    <p:handoutMasterId r:id="rId7"/>
  </p:handoutMasterIdLst>
  <p:sldIdLst>
    <p:sldId id="259" r:id="rId2"/>
    <p:sldId id="263" r:id="rId3"/>
    <p:sldId id="266" r:id="rId4"/>
    <p:sldId id="261" r:id="rId5"/>
  </p:sldIdLst>
  <p:sldSz cx="12192000" cy="6858000"/>
  <p:notesSz cx="6858000" cy="9144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181"/>
    <a:srgbClr val="DDA147"/>
    <a:srgbClr val="B54C2D"/>
    <a:srgbClr val="B66952"/>
    <a:srgbClr val="B56D45"/>
    <a:srgbClr val="DF98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153" autoAdjust="0"/>
  </p:normalViewPr>
  <p:slideViewPr>
    <p:cSldViewPr snapToGrid="0">
      <p:cViewPr varScale="1">
        <p:scale>
          <a:sx n="80" d="100"/>
          <a:sy n="80" d="100"/>
        </p:scale>
        <p:origin x="782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497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預留位置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FB4D5E6-6CAD-43A1-B664-7F3D8E372CB9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1E602E8-7778-4840-9C52-CF866E2E7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60039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預留位置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85226E2-B735-4508-A988-88E01057849B}" type="datetime1">
              <a:rPr lang="zh-TW" altLang="en-US" smtClean="0"/>
              <a:t>2025/7/30</a:t>
            </a:fld>
            <a:endParaRPr 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備忘稿預留位置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/>
              <a:t>按一下以編輯母片文字樣式</a:t>
            </a:r>
            <a:endParaRPr lang="en-US"/>
          </a:p>
          <a:p>
            <a:pPr lvl="1" rtl="0"/>
            <a:r>
              <a:rPr lang="zh-tw"/>
              <a:t>第二層</a:t>
            </a:r>
          </a:p>
          <a:p>
            <a:pPr lvl="2" rtl="0"/>
            <a:r>
              <a:rPr lang="zh-tw"/>
              <a:t>第三層</a:t>
            </a:r>
          </a:p>
          <a:p>
            <a:pPr lvl="3" rtl="0"/>
            <a:r>
              <a:rPr lang="zh-tw"/>
              <a:t>第四層</a:t>
            </a:r>
          </a:p>
          <a:p>
            <a:pPr lvl="4" rtl="0"/>
            <a:r>
              <a:rPr lang="zh-tw"/>
              <a:t>第五層</a:t>
            </a:r>
            <a:endParaRPr lang="en-US"/>
          </a:p>
        </p:txBody>
      </p:sp>
      <p:sp>
        <p:nvSpPr>
          <p:cNvPr id="6" name="頁尾預留位置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E86D5CD-F53C-40AA-8F25-6C53AFF44E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398133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rtlCol="0" anchor="b">
            <a:normAutofit/>
          </a:bodyPr>
          <a:lstStyle>
            <a:lvl1pPr algn="ctr">
              <a:defRPr sz="54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rtlCol="0"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9A0F2C-D61B-4F78-A598-3F89F6808591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525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內容預留位置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520340" y="6000748"/>
            <a:ext cx="2743200" cy="365125"/>
          </a:xfrm>
        </p:spPr>
        <p:txBody>
          <a:bodyPr rtlCol="0"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10E378B1-F921-4DB6-A0B5-FBAB6D815817}" type="datetime1">
              <a:rPr lang="zh-TW" altLang="en-US" smtClean="0"/>
              <a:pPr/>
              <a:t>2025/7/30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>
          <a:xfrm>
            <a:off x="11438455" y="6492875"/>
            <a:ext cx="753545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5865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rtlCol="0" anchor="b"/>
          <a:lstStyle>
            <a:lvl1pPr algn="ctr">
              <a:defRPr sz="4000" b="0" cap="none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文字預留位置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rtlCol="0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142751" y="6028576"/>
            <a:ext cx="2743200" cy="365125"/>
          </a:xfrm>
        </p:spPr>
        <p:txBody>
          <a:bodyPr rtlCol="0"/>
          <a:lstStyle/>
          <a:p>
            <a:pPr rtl="0"/>
            <a:fld id="{71CF3BCF-43AF-44CE-8DED-A0A7E4AFE36C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>
          <a:xfrm>
            <a:off x="11438455" y="6492875"/>
            <a:ext cx="753545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486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內容預留位置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rtlCol="0" anchor="t">
            <a:normAutofit/>
          </a:bodyPr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rtlCol="0" anchor="t">
            <a:normAutofit/>
          </a:bodyPr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4E0B6A-E6B6-44EB-92C6-B1EDD7A0CF53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17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圖片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圖片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zh-tw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預留位置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zh-tw" dirty="0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982518-B634-4B56-A479-88927FC85B72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投影片編號預留位置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887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5BBEA0-9E15-4B30-90D1-183370C5F62E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888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22B815-A77C-480F-A07E-33569587508E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16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內容預留位置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 rtlCol="0">
            <a:normAutofit/>
          </a:bodyPr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0AA884-2339-4FDA-B838-711CBE37D2CE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479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圖片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rtlCol="0" anchor="b">
            <a:noAutofit/>
          </a:bodyPr>
          <a:lstStyle>
            <a:lvl1pPr algn="ctr">
              <a:defRPr sz="3200" b="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圖片預留位置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194BED-1B93-40DC-B7C0-9A9596B3071C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378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全景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圖片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rtlCol="0" anchor="b">
            <a:normAutofit/>
          </a:bodyPr>
          <a:lstStyle>
            <a:lvl1pPr algn="ctr">
              <a:defRPr sz="28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圖片預留位置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CD7CC2-5874-4136-B618-25EAC07F2E5F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665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rtlCol="0" anchor="ctr">
            <a:normAutofit/>
          </a:bodyPr>
          <a:lstStyle>
            <a:lvl1pPr>
              <a:defRPr sz="40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rtlCol="0"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F3F2D1-9D40-497F-84BA-DE8CE6BA4BEE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2055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引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文字預留位置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FF5CCF7-2695-4131-AD00-E93CBB603F28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zh-tw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zh-tw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80594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1024A9C-A6DB-458D-B7DE-5140A276A908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36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文字版面配置區 2"/>
          <p:cNvSpPr>
            <a:spLocks noGrp="1"/>
          </p:cNvSpPr>
          <p:nvPr>
            <p:ph type="body" idx="1" hasCustomPrompt="1"/>
          </p:nvPr>
        </p:nvSpPr>
        <p:spPr>
          <a:xfrm>
            <a:off x="913795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dirty="0"/>
              <a:t>按一下以編輯母片文字</a:t>
            </a:r>
            <a:br>
              <a:rPr lang="en-US" altLang="zh-TW" dirty="0"/>
            </a:br>
            <a:r>
              <a:rPr lang="zh-tw" dirty="0"/>
              <a:t>樣式</a:t>
            </a:r>
          </a:p>
        </p:txBody>
      </p:sp>
      <p:sp>
        <p:nvSpPr>
          <p:cNvPr id="8" name="文字預留位置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9" name="文字版面配置區 4"/>
          <p:cNvSpPr>
            <a:spLocks noGrp="1"/>
          </p:cNvSpPr>
          <p:nvPr>
            <p:ph type="body" sz="quarter" idx="3" hasCustomPrompt="1"/>
          </p:nvPr>
        </p:nvSpPr>
        <p:spPr>
          <a:xfrm>
            <a:off x="4446711" y="1885949"/>
            <a:ext cx="3300984" cy="764783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dirty="0"/>
              <a:t>按一下以編輯母片文字</a:t>
            </a:r>
            <a:br>
              <a:rPr lang="en-US" altLang="zh-TW" dirty="0"/>
            </a:br>
            <a:r>
              <a:rPr lang="zh-tw" dirty="0"/>
              <a:t>樣式</a:t>
            </a:r>
          </a:p>
        </p:txBody>
      </p:sp>
      <p:sp>
        <p:nvSpPr>
          <p:cNvPr id="10" name="文字預留位置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11" name="文字預留位置 4"/>
          <p:cNvSpPr>
            <a:spLocks noGrp="1"/>
          </p:cNvSpPr>
          <p:nvPr>
            <p:ph type="body" sz="quarter" idx="13" hasCustomPrompt="1"/>
          </p:nvPr>
        </p:nvSpPr>
        <p:spPr>
          <a:xfrm>
            <a:off x="7966572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dirty="0"/>
              <a:t>按一下以編輯母片文字</a:t>
            </a:r>
            <a:br>
              <a:rPr lang="en-US" altLang="zh-TW" dirty="0"/>
            </a:br>
            <a:r>
              <a:rPr lang="zh-tw" dirty="0"/>
              <a:t>樣式</a:t>
            </a:r>
          </a:p>
        </p:txBody>
      </p:sp>
      <p:sp>
        <p:nvSpPr>
          <p:cNvPr id="12" name="文字預留位置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E5272A-0B28-4E11-950A-313FC911A049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06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圖片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圖片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標題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文字版面配置區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0" name="圖片預留位置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文字預留位置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2" name="文字預留位置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3" name="圖片預留位置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文字預留位置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5" name="文字預留位置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6" name="圖片預留位置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文字預留位置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ACF7D8-7292-4421-9561-61106B87073C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302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直排文字預留位置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E9803B5-326F-4B80-8A1B-8F2AA9FC8140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158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 rtlCol="0"/>
          <a:lstStyle>
            <a:lvl1pPr algn="l">
              <a:defRPr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直排文字預留位置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rtlCol="0" anchor="t"/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C6E54B5-1D10-449A-852D-5291154807A6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527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tw" dirty="0"/>
              <a:t>按一下以編輯母片標題樣式</a:t>
            </a:r>
            <a:endParaRPr lang="en-US" dirty="0"/>
          </a:p>
        </p:txBody>
      </p:sp>
      <p:sp>
        <p:nvSpPr>
          <p:cNvPr id="3" name="文字預留位置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 rtl="0"/>
            <a:r>
              <a:rPr lang="zh-tw"/>
              <a:t>按一下以編輯母片文字樣式</a:t>
            </a:r>
          </a:p>
          <a:p>
            <a:pPr lvl="1" rtl="0"/>
            <a:r>
              <a:rPr lang="zh-tw"/>
              <a:t>第二層</a:t>
            </a:r>
          </a:p>
          <a:p>
            <a:pPr lvl="2" rtl="0"/>
            <a:r>
              <a:rPr lang="zh-tw"/>
              <a:t>第三層</a:t>
            </a:r>
          </a:p>
          <a:p>
            <a:pPr lvl="3" rtl="0"/>
            <a:r>
              <a:rPr lang="zh-tw"/>
              <a:t>第四層</a:t>
            </a:r>
          </a:p>
          <a:p>
            <a:pPr lvl="4" rtl="0"/>
            <a:r>
              <a:rPr lang="zh-tw"/>
              <a:t>第五層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Times New Roman" panose="02020603050405020304" pitchFamily="18" charset="0"/>
                <a:ea typeface="MingLiu" panose="02020509000000000000" pitchFamily="49" charset="-120"/>
                <a:cs typeface="Times New Roman" panose="02020603050405020304" pitchFamily="18" charset="0"/>
              </a:defRPr>
            </a:lvl1pPr>
          </a:lstStyle>
          <a:p>
            <a:fld id="{E27EBA36-4489-4ED5-9948-A27DCFE4D027}" type="datetime1">
              <a:rPr lang="zh-TW" altLang="en-US" smtClean="0"/>
              <a:pPr/>
              <a:t>2025/7/30</a:t>
            </a:fld>
            <a:endParaRPr lang="en-US" dirty="0"/>
          </a:p>
        </p:txBody>
      </p:sp>
      <p:sp>
        <p:nvSpPr>
          <p:cNvPr id="5" name="頁尾預留位置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MingLiu" panose="02020509000000000000" pitchFamily="49" charset="-120"/>
                <a:ea typeface="MingLiu" panose="02020509000000000000" pitchFamily="49" charset="-120"/>
              </a:defRPr>
            </a:lvl1pPr>
          </a:lstStyle>
          <a:p>
            <a:endParaRPr 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MingLiu" panose="02020509000000000000" pitchFamily="49" charset="-120"/>
                <a:ea typeface="MingLiu" panose="02020509000000000000" pitchFamily="49" charset="-120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8027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3" r:id="rId1"/>
    <p:sldLayoutId id="2147483715" r:id="rId2"/>
    <p:sldLayoutId id="2147483716" r:id="rId3"/>
    <p:sldLayoutId id="2147483714" r:id="rId4"/>
    <p:sldLayoutId id="2147483710" r:id="rId5"/>
    <p:sldLayoutId id="2147483694" r:id="rId6"/>
    <p:sldLayoutId id="2147483695" r:id="rId7"/>
    <p:sldLayoutId id="2147483696" r:id="rId8"/>
    <p:sldLayoutId id="2147483697" r:id="rId9"/>
    <p:sldLayoutId id="2147483699" r:id="rId10"/>
    <p:sldLayoutId id="2147483693" r:id="rId11"/>
    <p:sldLayoutId id="2147483700" r:id="rId12"/>
    <p:sldLayoutId id="2147483701" r:id="rId13"/>
    <p:sldLayoutId id="2147483703" r:id="rId14"/>
    <p:sldLayoutId id="2147483704" r:id="rId15"/>
    <p:sldLayoutId id="2147483702" r:id="rId16"/>
    <p:sldLayoutId id="2147483698" r:id="rId17"/>
  </p:sldLayoutIdLst>
  <p:hf sldNum="0" hdr="0" ftr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MingLiu" panose="02020509000000000000" pitchFamily="49" charset="-12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Anglebrackets/web_rag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oobabooga/text-generation-webui-extension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包含杯子、咖啡、食物、飲料的圖片&#10;&#10;自動產生的描述">
            <a:extLst>
              <a:ext uri="{FF2B5EF4-FFF2-40B4-BE49-F238E27FC236}">
                <a16:creationId xmlns:a16="http://schemas.microsoft.com/office/drawing/2014/main" id="{91BC5572-FC33-4C1C-8DEE-C2CF75A756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7472"/>
            <a:ext cx="12191980" cy="2648381"/>
          </a:xfrm>
        </p:spPr>
        <p:txBody>
          <a:bodyPr rtlCol="0">
            <a:normAutofit/>
          </a:bodyPr>
          <a:lstStyle/>
          <a:p>
            <a:r>
              <a:rPr lang="en-US" altLang="zh-TW" sz="6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20250730 Meeting</a:t>
            </a:r>
            <a:br>
              <a:rPr lang="en-US" altLang="zh-TW" sz="6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sz="6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進度彙報</a:t>
            </a:r>
            <a:endParaRPr lang="zh-tw" sz="6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441001"/>
            <a:ext cx="12192000" cy="1397951"/>
          </a:xfrm>
        </p:spPr>
        <p:txBody>
          <a:bodyPr rtlCol="0">
            <a:normAutofit/>
          </a:bodyPr>
          <a:lstStyle/>
          <a:p>
            <a:pPr rtl="0"/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王緯禎、洪綵柔</a:t>
            </a:r>
            <a:endParaRPr 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33738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B8C749E-D0F3-467A-A7E8-DCFB97858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0E378B1-F921-4DB6-A0B5-FBAB6D815817}" type="datetime1">
              <a:rPr lang="zh-TW" altLang="en-US" smtClean="0"/>
              <a:t>2025/7/30</a:t>
            </a:fld>
            <a:endParaRPr lang="en-US" dirty="0"/>
          </a:p>
        </p:txBody>
      </p:sp>
      <p:graphicFrame>
        <p:nvGraphicFramePr>
          <p:cNvPr id="5" name="表格 6">
            <a:extLst>
              <a:ext uri="{FF2B5EF4-FFF2-40B4-BE49-F238E27FC236}">
                <a16:creationId xmlns:a16="http://schemas.microsoft.com/office/drawing/2014/main" id="{35F84891-E323-4FD6-AD98-77F2DAFCD4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471327"/>
              </p:ext>
            </p:extLst>
          </p:nvPr>
        </p:nvGraphicFramePr>
        <p:xfrm>
          <a:off x="1129822" y="1407032"/>
          <a:ext cx="9932355" cy="4443984"/>
        </p:xfrm>
        <a:graphic>
          <a:graphicData uri="http://schemas.openxmlformats.org/drawingml/2006/table">
            <a:tbl>
              <a:tblPr firstRow="1" firstCol="1" bandRow="1">
                <a:tableStyleId>{7DF18680-E054-41AD-8BC1-D1AEF772440D}</a:tableStyleId>
              </a:tblPr>
              <a:tblGrid>
                <a:gridCol w="1570071">
                  <a:extLst>
                    <a:ext uri="{9D8B030D-6E8A-4147-A177-3AD203B41FA5}">
                      <a16:colId xmlns:a16="http://schemas.microsoft.com/office/drawing/2014/main" val="2540747266"/>
                    </a:ext>
                  </a:extLst>
                </a:gridCol>
                <a:gridCol w="1393714">
                  <a:extLst>
                    <a:ext uri="{9D8B030D-6E8A-4147-A177-3AD203B41FA5}">
                      <a16:colId xmlns:a16="http://schemas.microsoft.com/office/drawing/2014/main" val="529386097"/>
                    </a:ext>
                  </a:extLst>
                </a:gridCol>
                <a:gridCol w="1393714">
                  <a:extLst>
                    <a:ext uri="{9D8B030D-6E8A-4147-A177-3AD203B41FA5}">
                      <a16:colId xmlns:a16="http://schemas.microsoft.com/office/drawing/2014/main" val="3531852383"/>
                    </a:ext>
                  </a:extLst>
                </a:gridCol>
                <a:gridCol w="1393714">
                  <a:extLst>
                    <a:ext uri="{9D8B030D-6E8A-4147-A177-3AD203B41FA5}">
                      <a16:colId xmlns:a16="http://schemas.microsoft.com/office/drawing/2014/main" val="2987238985"/>
                    </a:ext>
                  </a:extLst>
                </a:gridCol>
                <a:gridCol w="1393714">
                  <a:extLst>
                    <a:ext uri="{9D8B030D-6E8A-4147-A177-3AD203B41FA5}">
                      <a16:colId xmlns:a16="http://schemas.microsoft.com/office/drawing/2014/main" val="1917303762"/>
                    </a:ext>
                  </a:extLst>
                </a:gridCol>
                <a:gridCol w="1393714">
                  <a:extLst>
                    <a:ext uri="{9D8B030D-6E8A-4147-A177-3AD203B41FA5}">
                      <a16:colId xmlns:a16="http://schemas.microsoft.com/office/drawing/2014/main" val="21700034"/>
                    </a:ext>
                  </a:extLst>
                </a:gridCol>
                <a:gridCol w="1393714">
                  <a:extLst>
                    <a:ext uri="{9D8B030D-6E8A-4147-A177-3AD203B41FA5}">
                      <a16:colId xmlns:a16="http://schemas.microsoft.com/office/drawing/2014/main" val="623645698"/>
                    </a:ext>
                  </a:extLst>
                </a:gridCol>
              </a:tblGrid>
              <a:tr h="1110996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Model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Llama 3 70B </a:t>
                      </a:r>
                      <a:r>
                        <a:rPr lang="en-US" altLang="zh-TW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Q4S</a:t>
                      </a:r>
                      <a:endParaRPr lang="zh-TW" altLang="en-US" b="1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Llama 3 70B </a:t>
                      </a:r>
                      <a:r>
                        <a:rPr lang="en-US" altLang="zh-TW" sz="1800" b="1" kern="1200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Q4M</a:t>
                      </a:r>
                      <a:endParaRPr lang="zh-TW" altLang="en-US" sz="1800" b="1" kern="1200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Llama 3 70B </a:t>
                      </a:r>
                      <a:r>
                        <a:rPr lang="en-US" altLang="zh-TW" sz="1800" b="1" kern="1200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Q5S</a:t>
                      </a:r>
                      <a:endParaRPr lang="zh-TW" altLang="en-US" sz="1800" b="1" kern="1200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Llama 3 70B </a:t>
                      </a:r>
                      <a:r>
                        <a:rPr lang="en-US" altLang="zh-TW" sz="1800" b="1" kern="1200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Q5M</a:t>
                      </a:r>
                      <a:endParaRPr lang="zh-TW" altLang="en-US" sz="1800" b="1" kern="1200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Llama 3 70B </a:t>
                      </a:r>
                      <a:r>
                        <a:rPr lang="en-US" altLang="zh-TW" sz="1800" b="1" kern="1200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Q6</a:t>
                      </a:r>
                      <a:endParaRPr lang="zh-TW" altLang="en-US" sz="1800" b="1" kern="1200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Llama 3 70B </a:t>
                      </a:r>
                      <a:r>
                        <a:rPr lang="en-US" altLang="zh-TW" sz="1800" b="1" kern="1200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Q8</a:t>
                      </a:r>
                      <a:endParaRPr lang="zh-TW" altLang="en-US" sz="1800" b="1" kern="1200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9222766"/>
                  </a:ext>
                </a:extLst>
              </a:tr>
              <a:tr h="1110996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VRAM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usage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41677MB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43774MB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49698MB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50946MB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58608MB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75101MB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1191526"/>
                  </a:ext>
                </a:extLst>
              </a:tr>
              <a:tr h="1110996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回應時間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12.32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13.52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14.99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16.18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19.01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18.80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秒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0603789"/>
                  </a:ext>
                </a:extLst>
              </a:tr>
              <a:tr h="1110996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回應品質評估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9704043"/>
                  </a:ext>
                </a:extLst>
              </a:tr>
            </a:tbl>
          </a:graphicData>
        </a:graphic>
      </p:graphicFrame>
      <p:sp>
        <p:nvSpPr>
          <p:cNvPr id="7" name="標題 1">
            <a:extLst>
              <a:ext uri="{FF2B5EF4-FFF2-40B4-BE49-F238E27FC236}">
                <a16:creationId xmlns:a16="http://schemas.microsoft.com/office/drawing/2014/main" id="{DB499B1B-D480-474E-A592-10211EC66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各模型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VRAM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占用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3B0C53B-F0B9-4E3E-8EBF-461BAB20F9DD}"/>
              </a:ext>
            </a:extLst>
          </p:cNvPr>
          <p:cNvSpPr/>
          <p:nvPr/>
        </p:nvSpPr>
        <p:spPr>
          <a:xfrm>
            <a:off x="6891439" y="1407033"/>
            <a:ext cx="1389888" cy="444398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049B666E-C82E-4E54-931F-2F79A68E8729}"/>
              </a:ext>
            </a:extLst>
          </p:cNvPr>
          <p:cNvGrpSpPr/>
          <p:nvPr/>
        </p:nvGrpSpPr>
        <p:grpSpPr>
          <a:xfrm>
            <a:off x="2766217" y="5174791"/>
            <a:ext cx="1260000" cy="241453"/>
            <a:chOff x="2217420" y="5164491"/>
            <a:chExt cx="1260000" cy="241453"/>
          </a:xfrm>
        </p:grpSpPr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B31E9A29-CACF-46A6-99F0-1A85D139EE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2472057" y="5164491"/>
              <a:ext cx="241453" cy="24145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0A3D8ED9-2E26-466A-A83E-47EE694712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795" b="90205" l="9673" r="93006">
                          <a14:foregroundMark x1="51190" y1="10269" x2="53869" y2="11374"/>
                          <a14:foregroundMark x1="50595" y1="10269" x2="53869" y2="9795"/>
                          <a14:foregroundMark x1="90327" y1="39810" x2="90179" y2="42338"/>
                          <a14:foregroundMark x1="92857" y1="41232" x2="93006" y2="40126"/>
                          <a14:foregroundMark x1="73958" y1="89258" x2="76042" y2="89573"/>
                          <a14:foregroundMark x1="32292" y1="89573" x2="31399" y2="86098"/>
                          <a14:foregroundMark x1="28571" y1="89731" x2="29911" y2="90047"/>
                          <a14:foregroundMark x1="74851" y1="89889" x2="77083" y2="90205"/>
                          <a14:foregroundMark x1="20387" y1="42970" x2="20650" y2="43165"/>
                          <a14:backgroundMark x1="33185" y1="82780" x2="33185" y2="82780"/>
                          <a14:backgroundMark x1="72470" y1="82622" x2="72470" y2="82622"/>
                          <a14:backgroundMark x1="32440" y1="90047" x2="32589" y2="89889"/>
                          <a14:backgroundMark x1="32440" y1="89731" x2="32440" y2="89731"/>
                          <a14:backgroundMark x1="22768" y1="44076" x2="21429" y2="43128"/>
                          <a14:backgroundMark x1="23065" y1="43918" x2="21280" y2="42970"/>
                          <a14:backgroundMark x1="22768" y1="44234" x2="22470" y2="43918"/>
                          <a14:backgroundMark x1="20685" y1="43128" x2="22619" y2="44392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9520" t="2901" r="4875" b="5822"/>
            <a:stretch/>
          </p:blipFill>
          <p:spPr>
            <a:xfrm>
              <a:off x="2981330" y="5164491"/>
              <a:ext cx="241453" cy="24145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E6ACECD1-FDE1-4C40-8CCE-FFFF77F4FA7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2726693" y="5164491"/>
              <a:ext cx="241453" cy="24145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5A3521A3-9972-4445-AF65-040CA602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2217420" y="5164491"/>
              <a:ext cx="241453" cy="24145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F02D1D4A-44B6-44E4-A522-63ED3BF54FE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795" b="90205" l="9673" r="93006">
                          <a14:foregroundMark x1="51190" y1="10269" x2="53869" y2="11374"/>
                          <a14:foregroundMark x1="50595" y1="10269" x2="53869" y2="9795"/>
                          <a14:foregroundMark x1="90327" y1="39810" x2="90179" y2="42338"/>
                          <a14:foregroundMark x1="92857" y1="41232" x2="93006" y2="40126"/>
                          <a14:foregroundMark x1="73958" y1="89258" x2="76042" y2="89573"/>
                          <a14:foregroundMark x1="32292" y1="89573" x2="31399" y2="86098"/>
                          <a14:foregroundMark x1="28571" y1="89731" x2="29911" y2="90047"/>
                          <a14:foregroundMark x1="74851" y1="89889" x2="77083" y2="90205"/>
                          <a14:foregroundMark x1="20387" y1="42970" x2="20650" y2="43165"/>
                          <a14:backgroundMark x1="33185" y1="82780" x2="33185" y2="82780"/>
                          <a14:backgroundMark x1="72470" y1="82622" x2="72470" y2="82622"/>
                          <a14:backgroundMark x1="32440" y1="90047" x2="32589" y2="89889"/>
                          <a14:backgroundMark x1="32440" y1="89731" x2="32440" y2="89731"/>
                          <a14:backgroundMark x1="22768" y1="44076" x2="21429" y2="43128"/>
                          <a14:backgroundMark x1="23065" y1="43918" x2="21280" y2="42970"/>
                          <a14:backgroundMark x1="22768" y1="44234" x2="22470" y2="43918"/>
                          <a14:backgroundMark x1="20685" y1="43128" x2="22619" y2="44392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9520" t="2901" r="4875" b="5822"/>
            <a:stretch/>
          </p:blipFill>
          <p:spPr>
            <a:xfrm>
              <a:off x="3235967" y="5164491"/>
              <a:ext cx="241453" cy="241453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D20320C1-1541-48EE-94AF-3B079707F51B}"/>
              </a:ext>
            </a:extLst>
          </p:cNvPr>
          <p:cNvGrpSpPr/>
          <p:nvPr/>
        </p:nvGrpSpPr>
        <p:grpSpPr>
          <a:xfrm>
            <a:off x="4138452" y="5174791"/>
            <a:ext cx="1258678" cy="241200"/>
            <a:chOff x="3589655" y="5164491"/>
            <a:chExt cx="1258678" cy="241200"/>
          </a:xfrm>
        </p:grpSpPr>
        <p:pic>
          <p:nvPicPr>
            <p:cNvPr id="13" name="內容版面配置區 4">
              <a:extLst>
                <a:ext uri="{FF2B5EF4-FFF2-40B4-BE49-F238E27FC236}">
                  <a16:creationId xmlns:a16="http://schemas.microsoft.com/office/drawing/2014/main" id="{FDFF4BC6-7841-4E2C-97C8-3CDC20B89D8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2763" y="5164491"/>
              <a:ext cx="241200" cy="241200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14" name="圖片 13">
              <a:extLst>
                <a:ext uri="{FF2B5EF4-FFF2-40B4-BE49-F238E27FC236}">
                  <a16:creationId xmlns:a16="http://schemas.microsoft.com/office/drawing/2014/main" id="{E87C4C1A-E484-468F-AEC7-CD814D7C3D6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3844025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5" name="圖片 14">
              <a:extLst>
                <a:ext uri="{FF2B5EF4-FFF2-40B4-BE49-F238E27FC236}">
                  <a16:creationId xmlns:a16="http://schemas.microsoft.com/office/drawing/2014/main" id="{60278BD7-3D78-41A3-A30B-0DF63B7C54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4098394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2" name="圖片 21">
              <a:extLst>
                <a:ext uri="{FF2B5EF4-FFF2-40B4-BE49-F238E27FC236}">
                  <a16:creationId xmlns:a16="http://schemas.microsoft.com/office/drawing/2014/main" id="{DEEBE56D-7154-4B67-BB41-D8CAA9A828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3589655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D88A5C58-9BB4-4F9D-9B23-E5325FE085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795" b="90205" l="9673" r="93006">
                          <a14:foregroundMark x1="51190" y1="10269" x2="53869" y2="11374"/>
                          <a14:foregroundMark x1="50595" y1="10269" x2="53869" y2="9795"/>
                          <a14:foregroundMark x1="90327" y1="39810" x2="90179" y2="42338"/>
                          <a14:foregroundMark x1="92857" y1="41232" x2="93006" y2="40126"/>
                          <a14:foregroundMark x1="73958" y1="89258" x2="76042" y2="89573"/>
                          <a14:foregroundMark x1="32292" y1="89573" x2="31399" y2="86098"/>
                          <a14:foregroundMark x1="28571" y1="89731" x2="29911" y2="90047"/>
                          <a14:foregroundMark x1="74851" y1="89889" x2="77083" y2="90205"/>
                          <a14:foregroundMark x1="20387" y1="42970" x2="20650" y2="43165"/>
                          <a14:backgroundMark x1="33185" y1="82780" x2="33185" y2="82780"/>
                          <a14:backgroundMark x1="72470" y1="82622" x2="72470" y2="82622"/>
                          <a14:backgroundMark x1="32440" y1="90047" x2="32589" y2="89889"/>
                          <a14:backgroundMark x1="32440" y1="89731" x2="32440" y2="89731"/>
                          <a14:backgroundMark x1="22768" y1="44076" x2="21429" y2="43128"/>
                          <a14:backgroundMark x1="23065" y1="43918" x2="21280" y2="42970"/>
                          <a14:backgroundMark x1="22768" y1="44234" x2="22470" y2="43918"/>
                          <a14:backgroundMark x1="20685" y1="43128" x2="22619" y2="44392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9520" t="2901" r="4875" b="5822"/>
            <a:stretch/>
          </p:blipFill>
          <p:spPr>
            <a:xfrm>
              <a:off x="4607133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1FCCC95E-9B85-4976-9A0E-5428251366A6}"/>
              </a:ext>
            </a:extLst>
          </p:cNvPr>
          <p:cNvGrpSpPr/>
          <p:nvPr/>
        </p:nvGrpSpPr>
        <p:grpSpPr>
          <a:xfrm>
            <a:off x="9729492" y="5174791"/>
            <a:ext cx="1258678" cy="241200"/>
            <a:chOff x="9180695" y="5164491"/>
            <a:chExt cx="1258678" cy="241200"/>
          </a:xfrm>
        </p:grpSpPr>
        <p:pic>
          <p:nvPicPr>
            <p:cNvPr id="25" name="內容版面配置區 4">
              <a:extLst>
                <a:ext uri="{FF2B5EF4-FFF2-40B4-BE49-F238E27FC236}">
                  <a16:creationId xmlns:a16="http://schemas.microsoft.com/office/drawing/2014/main" id="{0A56412A-13C5-4F78-AD44-7036B1139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43803" y="5164491"/>
              <a:ext cx="241200" cy="241200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2487C8C7-0AA8-4D71-802C-22AFE15D101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9435065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791DB6D1-E637-4B9A-B1B5-BFF7E2600B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9689434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35A465ED-DD5C-495B-A8DC-79398D1531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9180695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71BD4551-92CE-4A19-888D-F5EC17CDA19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795" b="90205" l="9673" r="93006">
                          <a14:foregroundMark x1="51190" y1="10269" x2="53869" y2="11374"/>
                          <a14:foregroundMark x1="50595" y1="10269" x2="53869" y2="9795"/>
                          <a14:foregroundMark x1="90327" y1="39810" x2="90179" y2="42338"/>
                          <a14:foregroundMark x1="92857" y1="41232" x2="93006" y2="40126"/>
                          <a14:foregroundMark x1="73958" y1="89258" x2="76042" y2="89573"/>
                          <a14:foregroundMark x1="32292" y1="89573" x2="31399" y2="86098"/>
                          <a14:foregroundMark x1="28571" y1="89731" x2="29911" y2="90047"/>
                          <a14:foregroundMark x1="74851" y1="89889" x2="77083" y2="90205"/>
                          <a14:foregroundMark x1="20387" y1="42970" x2="20650" y2="43165"/>
                          <a14:backgroundMark x1="33185" y1="82780" x2="33185" y2="82780"/>
                          <a14:backgroundMark x1="72470" y1="82622" x2="72470" y2="82622"/>
                          <a14:backgroundMark x1="32440" y1="90047" x2="32589" y2="89889"/>
                          <a14:backgroundMark x1="32440" y1="89731" x2="32440" y2="89731"/>
                          <a14:backgroundMark x1="22768" y1="44076" x2="21429" y2="43128"/>
                          <a14:backgroundMark x1="23065" y1="43918" x2="21280" y2="42970"/>
                          <a14:backgroundMark x1="22768" y1="44234" x2="22470" y2="43918"/>
                          <a14:backgroundMark x1="20685" y1="43128" x2="22619" y2="44392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9520" t="2901" r="4875" b="5822"/>
            <a:stretch/>
          </p:blipFill>
          <p:spPr>
            <a:xfrm>
              <a:off x="10198173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6" name="群組 5">
            <a:extLst>
              <a:ext uri="{FF2B5EF4-FFF2-40B4-BE49-F238E27FC236}">
                <a16:creationId xmlns:a16="http://schemas.microsoft.com/office/drawing/2014/main" id="{107936C2-F746-4170-919C-5863751042E9}"/>
              </a:ext>
            </a:extLst>
          </p:cNvPr>
          <p:cNvGrpSpPr/>
          <p:nvPr/>
        </p:nvGrpSpPr>
        <p:grpSpPr>
          <a:xfrm>
            <a:off x="5541525" y="5174791"/>
            <a:ext cx="1258678" cy="241200"/>
            <a:chOff x="4992728" y="5164491"/>
            <a:chExt cx="1258678" cy="241200"/>
          </a:xfrm>
        </p:grpSpPr>
        <p:pic>
          <p:nvPicPr>
            <p:cNvPr id="31" name="圖片 30">
              <a:extLst>
                <a:ext uri="{FF2B5EF4-FFF2-40B4-BE49-F238E27FC236}">
                  <a16:creationId xmlns:a16="http://schemas.microsoft.com/office/drawing/2014/main" id="{245AEBA7-E014-4437-96AF-412D32AC42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5247098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FD600ABA-AF28-4F26-AA03-204658DD2E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5501467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9A339FA6-087A-4B73-9593-C0C6EC1621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4992728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4" name="圖片 33">
              <a:extLst>
                <a:ext uri="{FF2B5EF4-FFF2-40B4-BE49-F238E27FC236}">
                  <a16:creationId xmlns:a16="http://schemas.microsoft.com/office/drawing/2014/main" id="{AFA9E6CF-BD5C-4CFF-9B76-C289DC8F4E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795" b="90205" l="9673" r="93006">
                          <a14:foregroundMark x1="51190" y1="10269" x2="53869" y2="11374"/>
                          <a14:foregroundMark x1="50595" y1="10269" x2="53869" y2="9795"/>
                          <a14:foregroundMark x1="90327" y1="39810" x2="90179" y2="42338"/>
                          <a14:foregroundMark x1="92857" y1="41232" x2="93006" y2="40126"/>
                          <a14:foregroundMark x1="73958" y1="89258" x2="76042" y2="89573"/>
                          <a14:foregroundMark x1="32292" y1="89573" x2="31399" y2="86098"/>
                          <a14:foregroundMark x1="28571" y1="89731" x2="29911" y2="90047"/>
                          <a14:foregroundMark x1="74851" y1="89889" x2="77083" y2="90205"/>
                          <a14:foregroundMark x1="20387" y1="42970" x2="20650" y2="43165"/>
                          <a14:backgroundMark x1="33185" y1="82780" x2="33185" y2="82780"/>
                          <a14:backgroundMark x1="72470" y1="82622" x2="72470" y2="82622"/>
                          <a14:backgroundMark x1="32440" y1="90047" x2="32589" y2="89889"/>
                          <a14:backgroundMark x1="32440" y1="89731" x2="32440" y2="89731"/>
                          <a14:backgroundMark x1="22768" y1="44076" x2="21429" y2="43128"/>
                          <a14:backgroundMark x1="23065" y1="43918" x2="21280" y2="42970"/>
                          <a14:backgroundMark x1="22768" y1="44234" x2="22470" y2="43918"/>
                          <a14:backgroundMark x1="20685" y1="43128" x2="22619" y2="44392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9520" t="2901" r="4875" b="5822"/>
            <a:stretch/>
          </p:blipFill>
          <p:spPr>
            <a:xfrm>
              <a:off x="6010206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76528117-5E29-40A4-94AE-96E09219AA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5755836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FE78C144-2CBE-4C13-AAA9-C8C42F8957A0}"/>
              </a:ext>
            </a:extLst>
          </p:cNvPr>
          <p:cNvGrpSpPr/>
          <p:nvPr/>
        </p:nvGrpSpPr>
        <p:grpSpPr>
          <a:xfrm>
            <a:off x="6933972" y="5174791"/>
            <a:ext cx="1258677" cy="241200"/>
            <a:chOff x="7793272" y="5164491"/>
            <a:chExt cx="1258677" cy="241200"/>
          </a:xfrm>
        </p:grpSpPr>
        <p:pic>
          <p:nvPicPr>
            <p:cNvPr id="48" name="內容版面配置區 4">
              <a:extLst>
                <a:ext uri="{FF2B5EF4-FFF2-40B4-BE49-F238E27FC236}">
                  <a16:creationId xmlns:a16="http://schemas.microsoft.com/office/drawing/2014/main" id="{C801DCDE-3CD1-47C9-906F-4B85C754A5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10749" y="5164491"/>
              <a:ext cx="241200" cy="241200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49" name="圖片 48">
              <a:extLst>
                <a:ext uri="{FF2B5EF4-FFF2-40B4-BE49-F238E27FC236}">
                  <a16:creationId xmlns:a16="http://schemas.microsoft.com/office/drawing/2014/main" id="{47A34156-FA95-4026-973F-A81FC8318B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8047642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0" name="圖片 49">
              <a:extLst>
                <a:ext uri="{FF2B5EF4-FFF2-40B4-BE49-F238E27FC236}">
                  <a16:creationId xmlns:a16="http://schemas.microsoft.com/office/drawing/2014/main" id="{C1EC099B-E697-4AF5-B294-45DD6323FC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8302011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1" name="圖片 50">
              <a:extLst>
                <a:ext uri="{FF2B5EF4-FFF2-40B4-BE49-F238E27FC236}">
                  <a16:creationId xmlns:a16="http://schemas.microsoft.com/office/drawing/2014/main" id="{1F918D6D-907A-49A2-9588-F96A36573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7793272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2" name="圖片 51">
              <a:extLst>
                <a:ext uri="{FF2B5EF4-FFF2-40B4-BE49-F238E27FC236}">
                  <a16:creationId xmlns:a16="http://schemas.microsoft.com/office/drawing/2014/main" id="{240B9F21-DEF8-49D2-B4EC-6B1F45CA10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8556380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82688538-D519-46AE-B272-270FF24A0E33}"/>
              </a:ext>
            </a:extLst>
          </p:cNvPr>
          <p:cNvGrpSpPr/>
          <p:nvPr/>
        </p:nvGrpSpPr>
        <p:grpSpPr>
          <a:xfrm>
            <a:off x="8337045" y="5174791"/>
            <a:ext cx="1258678" cy="241200"/>
            <a:chOff x="6405848" y="5164491"/>
            <a:chExt cx="1258678" cy="241200"/>
          </a:xfrm>
        </p:grpSpPr>
        <p:pic>
          <p:nvPicPr>
            <p:cNvPr id="54" name="圖片 53">
              <a:extLst>
                <a:ext uri="{FF2B5EF4-FFF2-40B4-BE49-F238E27FC236}">
                  <a16:creationId xmlns:a16="http://schemas.microsoft.com/office/drawing/2014/main" id="{58AF4970-5897-49B0-B7E6-99550BF3DB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6660218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5" name="圖片 54">
              <a:extLst>
                <a:ext uri="{FF2B5EF4-FFF2-40B4-BE49-F238E27FC236}">
                  <a16:creationId xmlns:a16="http://schemas.microsoft.com/office/drawing/2014/main" id="{120D3C4B-E7F3-421E-B53E-6665660D0FD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6914587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6" name="圖片 55">
              <a:extLst>
                <a:ext uri="{FF2B5EF4-FFF2-40B4-BE49-F238E27FC236}">
                  <a16:creationId xmlns:a16="http://schemas.microsoft.com/office/drawing/2014/main" id="{04E1E721-6094-4DC0-9764-EB1A741142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6405848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7" name="圖片 56">
              <a:extLst>
                <a:ext uri="{FF2B5EF4-FFF2-40B4-BE49-F238E27FC236}">
                  <a16:creationId xmlns:a16="http://schemas.microsoft.com/office/drawing/2014/main" id="{E44EDAEF-FB26-4C3D-B9A8-5942E734953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795" b="90205" l="9673" r="93006">
                          <a14:foregroundMark x1="51190" y1="10269" x2="53869" y2="11374"/>
                          <a14:foregroundMark x1="50595" y1="10269" x2="53869" y2="9795"/>
                          <a14:foregroundMark x1="90327" y1="39810" x2="90179" y2="42338"/>
                          <a14:foregroundMark x1="92857" y1="41232" x2="93006" y2="40126"/>
                          <a14:foregroundMark x1="73958" y1="89258" x2="76042" y2="89573"/>
                          <a14:foregroundMark x1="32292" y1="89573" x2="31399" y2="86098"/>
                          <a14:foregroundMark x1="28571" y1="89731" x2="29911" y2="90047"/>
                          <a14:foregroundMark x1="74851" y1="89889" x2="77083" y2="90205"/>
                          <a14:foregroundMark x1="20387" y1="42970" x2="20650" y2="43165"/>
                          <a14:backgroundMark x1="33185" y1="82780" x2="33185" y2="82780"/>
                          <a14:backgroundMark x1="72470" y1="82622" x2="72470" y2="82622"/>
                          <a14:backgroundMark x1="32440" y1="90047" x2="32589" y2="89889"/>
                          <a14:backgroundMark x1="32440" y1="89731" x2="32440" y2="89731"/>
                          <a14:backgroundMark x1="22768" y1="44076" x2="21429" y2="43128"/>
                          <a14:backgroundMark x1="23065" y1="43918" x2="21280" y2="42970"/>
                          <a14:backgroundMark x1="22768" y1="44234" x2="22470" y2="43918"/>
                          <a14:backgroundMark x1="20685" y1="43128" x2="22619" y2="44392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9520" t="2901" r="4875" b="5822"/>
            <a:stretch/>
          </p:blipFill>
          <p:spPr>
            <a:xfrm>
              <a:off x="7423326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B6AA3E93-567E-4F17-889D-DF3CF345C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439" b="94464" l="9091" r="93780">
                          <a14:foregroundMark x1="9091" y1="39792" x2="9729" y2="38581"/>
                          <a14:foregroundMark x1="88995" y1="38927" x2="93780" y2="38927"/>
                          <a14:foregroundMark x1="69856" y1="88062" x2="77831" y2="94464"/>
                          <a14:foregroundMark x1="77831" y1="94464" x2="76874" y2="88062"/>
                          <a14:foregroundMark x1="49282" y1="10208" x2="53748" y2="11246"/>
                          <a14:foregroundMark x1="50399" y1="7785" x2="52632" y2="7439"/>
                        </a14:backgroundRemoval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8592" t="1062" r="4631" b="4520"/>
            <a:stretch/>
          </p:blipFill>
          <p:spPr>
            <a:xfrm>
              <a:off x="7168956" y="5164491"/>
              <a:ext cx="241200" cy="241200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139810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8E4D-6F32-43F3-A03D-6B0A534BF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官方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RAG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插件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BEF25A-CB7F-4096-92D7-D8AAA2FC4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0E378B1-F921-4DB6-A0B5-FBAB6D815817}" type="datetime1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2025/7/30</a:t>
            </a:fld>
            <a:endParaRPr 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hlinkClick r:id="rId2"/>
            <a:extLst>
              <a:ext uri="{FF2B5EF4-FFF2-40B4-BE49-F238E27FC236}">
                <a16:creationId xmlns:a16="http://schemas.microsoft.com/office/drawing/2014/main" id="{17B1DBCE-423D-4EC2-BA20-CDCB55F4A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7504" y="1048980"/>
            <a:ext cx="7936992" cy="551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631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52CB0A-0A57-443F-8D68-32E06B473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0E378B1-F921-4DB6-A0B5-FBAB6D815817}" type="datetime1">
              <a:rPr lang="zh-TW" altLang="en-US" smtClean="0"/>
              <a:t>2025/7/30</a:t>
            </a:fld>
            <a:endParaRPr lang="en-US" dirty="0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3E7DB5F2-1030-4528-BDC1-6EF65776F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其他插件</a:t>
            </a:r>
          </a:p>
        </p:txBody>
      </p:sp>
      <p:pic>
        <p:nvPicPr>
          <p:cNvPr id="8" name="圖片 7">
            <a:hlinkClick r:id="rId2"/>
            <a:extLst>
              <a:ext uri="{FF2B5EF4-FFF2-40B4-BE49-F238E27FC236}">
                <a16:creationId xmlns:a16="http://schemas.microsoft.com/office/drawing/2014/main" id="{F3A4EE0E-030F-4F31-9295-12D509C6A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628" y="1021423"/>
            <a:ext cx="8238744" cy="551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092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offee">
      <a:dk1>
        <a:sysClr val="windowText" lastClr="000000"/>
      </a:dk1>
      <a:lt1>
        <a:sysClr val="window" lastClr="FFFFFF"/>
      </a:lt1>
      <a:dk2>
        <a:srgbClr val="4E3B30"/>
      </a:dk2>
      <a:lt2>
        <a:srgbClr val="F4EEDC"/>
      </a:lt2>
      <a:accent1>
        <a:srgbClr val="CC830E"/>
      </a:accent1>
      <a:accent2>
        <a:srgbClr val="B54C2D"/>
      </a:accent2>
      <a:accent3>
        <a:srgbClr val="99570C"/>
      </a:accent3>
      <a:accent4>
        <a:srgbClr val="C17529"/>
      </a:accent4>
      <a:accent5>
        <a:srgbClr val="A19574"/>
      </a:accent5>
      <a:accent6>
        <a:srgbClr val="A49518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671_TF12214701.potx" id="{BBB82F21-1842-44D0-B484-A888AAEB2B95}" vid="{768734AE-C4ED-4AF4-A856-0C4CCDE3A92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412</TotalTime>
  <Words>77</Words>
  <Application>Microsoft Office PowerPoint</Application>
  <PresentationFormat>寬螢幕</PresentationFormat>
  <Paragraphs>30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1" baseType="lpstr">
      <vt:lpstr>MingLiu</vt:lpstr>
      <vt:lpstr>標楷體</vt:lpstr>
      <vt:lpstr>Calibri</vt:lpstr>
      <vt:lpstr>Goudy Old Style</vt:lpstr>
      <vt:lpstr>Times New Roman</vt:lpstr>
      <vt:lpstr>Wingdings 2</vt:lpstr>
      <vt:lpstr>SlateVTI</vt:lpstr>
      <vt:lpstr>20250730 Meeting 進度彙報</vt:lpstr>
      <vt:lpstr>各模型VRAM占用</vt:lpstr>
      <vt:lpstr>官方RAG插件</vt:lpstr>
      <vt:lpstr>其他插件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標題 Lorem Ipsum</dc:title>
  <dc:creator>綵柔 洪</dc:creator>
  <cp:lastModifiedBy>綵柔 洪</cp:lastModifiedBy>
  <cp:revision>40</cp:revision>
  <dcterms:created xsi:type="dcterms:W3CDTF">2025-07-16T07:54:21Z</dcterms:created>
  <dcterms:modified xsi:type="dcterms:W3CDTF">2025-07-30T06:23:00Z</dcterms:modified>
</cp:coreProperties>
</file>